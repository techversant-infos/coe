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Don't explain the metaphor. Let it sit.
"Every person in this room has Claude, Copilot, or Cursor. Same map. But right now, five different people on the same project are navigating five different ways. No shared route. No agreed destination."
ENGAGEMENT (before advancing):
"Quick show of hands — used an AI tool in the last 24 hours? Keep your hand up if you think your teammate used it the same way."
(Lowered hands make the point. Move to slide 2.)
TONE: You're not here to teach. You're here because you've seen what works and what doesn't — and you want the team to benefit without the wrong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developer shipped 3 features cleanly last sprint. Another needed 4 review cycles on 1 feature. Both were using Cursor. Same GPS. Completely different routes."
HUMOUR: "Faster mistakes are still mistakes. Just harder to debug because you forgot how you made them."
INDIAN CONTEXT: "It's like 10 people ordering from the same Zomato account — same restaurant, same menu — nobody checked the office is veg-only. Nobody's wrong. No shared context."
ENGAGEMENT: "If I asked 5 people here — 'what's our AI review process for a PR?' — do you think I'd get 5 consistent answers?"
(Don't wait. Let it land.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CRICKET ANALOGY: "Rohit and Virat are brilliant individually — but they play the same game plan. A team wins on coordination, not individual improvisation."
"The four pillars are simple. Doing all four consistently, across every project — that's what today is about."
ENGAGEMENT: "If this system had been in place for the last 3 sprints — one shared workflow, one context file — what one thing would have been different?"
(Invite 1–2 short answers. Don't let it become a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Claude for inline autocomplete is like using your long-range GPS planner to navigate a car park. Technically it works. Complete overkill."
COST (for leads): "Claude Opus for simple completions costs 10× more than Copilot for the same output. Tool selection is cost discipline."
ENGAGEMENT: "What are you using Claude for that Copilot could handle cheaper and faster? And what should you be using Claude for that you're not?"
(No right answer. Just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debug AI-generated code you don't understand, you start from zero. No mental model. That's when a 2-hour task becomes a 2-day problem."
FOR JUNIORS: "There's a career-defining difference between 'AI taught me how this works' and 'AI wrote this and I hope it works.' One builds you. The other makes you fragile."
HUMOUR: "AI gives you the confidence of a senior developer with the context of someone who joined today."
ENGAGEMENT: "Raise your hand if you've spent more time debugging AI code than it would have taken to write it yourself."
(Almost everyone. That's the slide.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with Claude before writing code takes 10 minutes. Debugging code written without a plan takes 2 hours. The maths is not complicated."
GPS TIE-IN: "You don't start the car and figure out the route as you go. You set the destination, confirm the route, then drive. Same here."
ENGAGEMENT: "Count silently — how many of these 7 steps are you doing today? How many are you skipping?"
(No hands. Just reflection.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"Claude paused your auth refactor across 6 files after file 3. Type continue — picks up at file 4, same pattern, no drift. Re-prompting restarts reasoning and can drift from what was established."
REWIND: "Claude spent 3 messages rewriting your DB schema to fix a slow query. You realise it's a JOIN issue. Don't say 'ignore all that' — Claude partially carries it forward. Rewind cuts it cleanly."
/CLEAR: "After 45 min debugging a Node.js memory leak, you start a new React component. /clear first — otherwise Claude applies backend context to frontend output. Stale context is invisible but real."
/COMPACT: "An hour into building your API endpoint. Context filling. /compact — Claude summarises the agreed approach, you recover 60% context. Rule: compact before it fills, not after."
SUBAGENT: "/review triggers code-reviewer.md — pre-configured with your team rules. Same standards every PR. Automatically."
ENGAGEMENT: "Raise your hand if you've ever said 'ignore all that' to Claude after it went the wrong direction."
(Hands up — then:) "That's what rewind is for. Cleaner and cheaper than correcting mid-path."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vague question gets a vague answer. From a human. From Google. From Claude. AI is only as specific as you are."
GPS TIE-IN: "If you type 'coffee shop' into GPS, you might end up anywhere. The more specific — 'Blue Tokai, Indiranagar, Bangalore' — the more useful the route."
INDIAN HUMOUR: "Like telling a chai wala 'give me something hot.' You might get green tea. Be specific: adrak wali cutting chai, thodi meethi, extra strong."
LIVE ACTIVITY (most memorable part):
Show: "Write tests for my auth module."
Ask: "What's missing? Call it out." → language? framework? test style? edge cases?
Then reveal the strong version. More memorable than any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paste a 500-line file to ask about one function, you're burning context on 490 lines Claude will never reference. It's like giving a taxi driver your entire travel history just to get to the airport."
GPS TIE-IN: "GPS uses less battery when it knows your saved places. CLAUDE.md is your saved places. Set it up once — stop burning context re-explaining every session."
ENGAGEMENT: "Has anyone hit the context limit mid-session and lost everything they'd built up?"
(Hands up — then:) "That's a signal failure. Compact early. Not after you've lost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structure, every AI session starts from zero. With it, Claude already knows your stack, your standards, and what not to touch — before you type a word."
"CLAUDE.md is onboarding documentation for your AI. Write it once. Save 10 hours per sprint."
GPS TIE-IN: "Saved places in GPS mean you don't re-enter the address every trip. CLAUDE.md is your saved places. Set it up once per project."
ENGAGEMENT: "How many active projects in this room have a CLAUDE.md file right now?"
(Almost certainly: very few.)
"This is the single highest-leverage action from today. 2 hours of setup. Pays back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with a well-indexed codebase is the most context-aware tool you have. But indexed doesn't mean understood — it means searchable. It still needs guidance on what matters."
"Claude has no memory between sessions unless you use Projects or CLAUDE.md. Every new chat is a blank slate. That's not a bug. It's why CLAUDE.md exists."
GPS TIE-IN: "GPS can't see road closures that happened 10 minutes ago. It works with what it has. So does AI — and you need to know what 'what it has' actually means."
ENGAGEMENT: "Has AI ever suggested you import a function or use a pattern that doesn't exist in your project?"
(Hands up — very common.)
"That's AI guessing. CLAUDE.md is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risk is reviewers getting lazy because 'the AI already checked it.' AI-generated code needs more scrutiny — not less."
"A spell-checker doesn't know if your email is appropriate. It checks spelling. Claude checking your code doesn't know if the logic fits your business. That's your job."
GPS TIE-IN: "GPS said turn right. You looked — there's a flooded road. GPS doesn't know. You do. Same with AI. It gives you the turn. You decide whether to take it."
FOR QA: "AI removes the mechanical test-writing. The 20% requiring real judgment — the user flow nobody spec'd, the thing that just 'feels wrong' — that's irreplaceable."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like a very fast, very capable junior developer. You'd give them repetitive CRUD tasks without a second thought. You'd review their business logic before merging. You'd write the architecture yourself. And you'd never let them push directly to production without sign-off. AI is exactly this — with one extra catch: it never tells you when it's guessing."
"Teams that fully delegate hard thinking start to lose architectural muscle. When you need to debug something novel — nobody can — because they haven't wrestled with a hard problem in months."
LIVE POLL: "For your most recent AI-assisted task — which level? Full delegate? Collaborate? Human-led?"
(Most: 'full delegate' without realising it. That's the moment.)
"What's one task you're fully delegating right now that should be 'collaborate'?"
(2–3 answers. No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has a bad reputation because it usually means slower. Reframe: road rules don't make you slow — they make it safe to drive fast. A car without brakes isn't faster. It's dangerous."
"This isn't about trust. AI is confident even when it's completely wrong. Human judgment is the only check on that confidence. It doesn't have impostor syndrome."
ENGAGEMENT: "Has anyone pasted something into an AI tool that, in hindsight, shouldn't have left the company network?"
(No hands needed. Just let it sit. Move on.)
TIP: Print this slide as a physical reference card. Distribute before the session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action, not inspiration. Teams leave motivated, then don't act because next steps were vague. Fix that right now — one commitment per table, named person, in the next 5 working days."
GPS CLOSING CALLBACK: "GPS got you here today. You didn't follow it blindly — you knew the destination, confirmed the route, and drove. That's what we're asking for with AI. Know where you're going. Agree on the route. Stay in control."
COMMITMENT EXERCISE: "One commitment from each table. What does your team do in the next 5 working days? Write it down."
Get verbal commitments from 3–4 people by name. Public accountability.
FINAL QUESTION: "One word — what's the single thing you're taking from today?"
(Let 5–6 people answer. Close on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A0A8B3"/>
                </a:solidFill>
                <a:latin typeface="Calibri" pitchFamily="34" charset="0"/>
                <a:ea typeface="Calibri" pitchFamily="34" charset="-122"/>
                <a:cs typeface="Calibri" pitchFamily="34" charset="-120"/>
              </a:rPr>
              <a:t>1 / 15</a:t>
            </a:r>
            <a:endParaRPr lang="en-US" sz="800" dirty="0"/>
          </a:p>
        </p:txBody>
      </p:sp>
      <p:sp>
        <p:nvSpPr>
          <p:cNvPr id="3" name="Shape 1"/>
          <p:cNvSpPr/>
          <p:nvPr/>
        </p:nvSpPr>
        <p:spPr>
          <a:xfrm>
            <a:off x="4572000" y="320040"/>
            <a:ext cx="0" cy="2011680"/>
          </a:xfrm>
          <a:prstGeom prst="line">
            <a:avLst/>
          </a:prstGeom>
          <a:noFill/>
          <a:ln w="6350">
            <a:solidFill>
              <a:srgbClr val="333333"/>
            </a:solidFill>
            <a:prstDash val="solid"/>
          </a:ln>
        </p:spPr>
      </p:sp>
      <p:sp>
        <p:nvSpPr>
          <p:cNvPr id="4" name="Shape 2"/>
          <p:cNvSpPr/>
          <p:nvPr/>
        </p:nvSpPr>
        <p:spPr>
          <a:xfrm>
            <a:off x="914400" y="1920240"/>
            <a:ext cx="2011680" cy="-1325880"/>
          </a:xfrm>
          <a:prstGeom prst="line">
            <a:avLst/>
          </a:prstGeom>
          <a:noFill/>
          <a:ln w="19050">
            <a:solidFill>
              <a:srgbClr val="FFFFFF"/>
            </a:solidFill>
            <a:prstDash val="solid"/>
          </a:ln>
        </p:spPr>
      </p:sp>
      <p:sp>
        <p:nvSpPr>
          <p:cNvPr id="5" name="Shape 3"/>
          <p:cNvSpPr/>
          <p:nvPr/>
        </p:nvSpPr>
        <p:spPr>
          <a:xfrm>
            <a:off x="2834640" y="502920"/>
            <a:ext cx="182880" cy="182880"/>
          </a:xfrm>
          <a:prstGeom prst="ellipse">
            <a:avLst/>
          </a:prstGeom>
          <a:solidFill>
            <a:srgbClr val="FFFFFF"/>
          </a:solidFill>
          <a:ln w="12700">
            <a:solidFill>
              <a:srgbClr val="FFFFFF"/>
            </a:solidFill>
            <a:prstDash val="solid"/>
          </a:ln>
        </p:spPr>
      </p:sp>
      <p:sp>
        <p:nvSpPr>
          <p:cNvPr id="6" name="Shape 4"/>
          <p:cNvSpPr/>
          <p:nvPr/>
        </p:nvSpPr>
        <p:spPr>
          <a:xfrm>
            <a:off x="2880360" y="548640"/>
            <a:ext cx="91440" cy="91440"/>
          </a:xfrm>
          <a:prstGeom prst="ellipse">
            <a:avLst/>
          </a:prstGeom>
          <a:solidFill>
            <a:srgbClr val="111111"/>
          </a:solidFill>
          <a:ln w="12700">
            <a:solidFill>
              <a:srgbClr val="111111"/>
            </a:solidFill>
            <a:prstDash val="solid"/>
          </a:ln>
        </p:spPr>
      </p:sp>
      <p:sp>
        <p:nvSpPr>
          <p:cNvPr id="7" name="Shape 5"/>
          <p:cNvSpPr/>
          <p:nvPr/>
        </p:nvSpPr>
        <p:spPr>
          <a:xfrm>
            <a:off x="850392" y="1856232"/>
            <a:ext cx="128016" cy="128016"/>
          </a:xfrm>
          <a:prstGeom prst="ellipse">
            <a:avLst/>
          </a:prstGeom>
          <a:solidFill>
            <a:srgbClr val="AAAAAA"/>
          </a:solidFill>
          <a:ln w="12700">
            <a:solidFill>
              <a:srgbClr val="AAAAAA"/>
            </a:solidFill>
            <a:prstDash val="solid"/>
          </a:ln>
        </p:spPr>
      </p:sp>
      <p:sp>
        <p:nvSpPr>
          <p:cNvPr id="8" name="Text 6"/>
          <p:cNvSpPr/>
          <p:nvPr/>
        </p:nvSpPr>
        <p:spPr>
          <a:xfrm>
            <a:off x="365760" y="2130552"/>
            <a:ext cx="4023360" cy="201168"/>
          </a:xfrm>
          <a:prstGeom prst="rect">
            <a:avLst/>
          </a:prstGeom>
          <a:noFill/>
          <a:ln/>
        </p:spPr>
        <p:txBody>
          <a:bodyPr wrap="square" lIns="0" tIns="0" rIns="0" bIns="0" rtlCol="0" anchor="ctr"/>
          <a:lstStyle/>
          <a:p>
            <a:pPr algn="l" indent="0" marL="0">
              <a:buNone/>
            </a:pPr>
            <a:r>
              <a:rPr lang="en-US" sz="900" i="1" dirty="0">
                <a:solidFill>
                  <a:srgbClr val="555555"/>
                </a:solidFill>
                <a:latin typeface="Calibri" pitchFamily="34" charset="0"/>
                <a:ea typeface="Calibri" pitchFamily="34" charset="-122"/>
                <a:cs typeface="Calibri" pitchFamily="34" charset="-120"/>
              </a:rPr>
              <a:t>one team. one route.</a:t>
            </a:r>
            <a:endParaRPr lang="en-US" sz="900" dirty="0"/>
          </a:p>
        </p:txBody>
      </p:sp>
      <p:sp>
        <p:nvSpPr>
          <p:cNvPr id="9" name="Shape 7"/>
          <p:cNvSpPr/>
          <p:nvPr/>
        </p:nvSpPr>
        <p:spPr>
          <a:xfrm>
            <a:off x="5148072" y="1856232"/>
            <a:ext cx="128016" cy="128016"/>
          </a:xfrm>
          <a:prstGeom prst="ellipse">
            <a:avLst/>
          </a:prstGeom>
          <a:solidFill>
            <a:srgbClr val="888888"/>
          </a:solidFill>
          <a:ln w="12700">
            <a:solidFill>
              <a:srgbClr val="888888"/>
            </a:solidFill>
            <a:prstDash val="solid"/>
          </a:ln>
        </p:spPr>
      </p:sp>
      <p:sp>
        <p:nvSpPr>
          <p:cNvPr id="10" name="Shape 8"/>
          <p:cNvSpPr/>
          <p:nvPr/>
        </p:nvSpPr>
        <p:spPr>
          <a:xfrm>
            <a:off x="5212080" y="1920240"/>
            <a:ext cx="1645920" cy="-1280160"/>
          </a:xfrm>
          <a:prstGeom prst="line">
            <a:avLst/>
          </a:prstGeom>
          <a:noFill/>
          <a:ln w="12700">
            <a:solidFill>
              <a:srgbClr val="444444"/>
            </a:solidFill>
            <a:prstDash val="dash"/>
          </a:ln>
        </p:spPr>
      </p:sp>
      <p:sp>
        <p:nvSpPr>
          <p:cNvPr id="11" name="Shape 9"/>
          <p:cNvSpPr/>
          <p:nvPr/>
        </p:nvSpPr>
        <p:spPr>
          <a:xfrm>
            <a:off x="5212080" y="1920240"/>
            <a:ext cx="2743200" cy="-182880"/>
          </a:xfrm>
          <a:prstGeom prst="line">
            <a:avLst/>
          </a:prstGeom>
          <a:noFill/>
          <a:ln w="12700">
            <a:solidFill>
              <a:srgbClr val="444444"/>
            </a:solidFill>
            <a:prstDash val="solid"/>
          </a:ln>
        </p:spPr>
      </p:sp>
      <p:sp>
        <p:nvSpPr>
          <p:cNvPr id="12" name="Shape 10"/>
          <p:cNvSpPr/>
          <p:nvPr/>
        </p:nvSpPr>
        <p:spPr>
          <a:xfrm>
            <a:off x="5212080" y="1920240"/>
            <a:ext cx="1828800" cy="640080"/>
          </a:xfrm>
          <a:prstGeom prst="line">
            <a:avLst/>
          </a:prstGeom>
          <a:noFill/>
          <a:ln w="12700">
            <a:solidFill>
              <a:srgbClr val="444444"/>
            </a:solidFill>
            <a:prstDash val="dash"/>
          </a:ln>
        </p:spPr>
      </p:sp>
      <p:sp>
        <p:nvSpPr>
          <p:cNvPr id="13" name="Shape 11"/>
          <p:cNvSpPr/>
          <p:nvPr/>
        </p:nvSpPr>
        <p:spPr>
          <a:xfrm>
            <a:off x="5212080" y="1920240"/>
            <a:ext cx="457200" cy="-1371600"/>
          </a:xfrm>
          <a:prstGeom prst="line">
            <a:avLst/>
          </a:prstGeom>
          <a:noFill/>
          <a:ln w="12700">
            <a:solidFill>
              <a:srgbClr val="444444"/>
            </a:solidFill>
            <a:prstDash val="solid"/>
          </a:ln>
        </p:spPr>
      </p:sp>
      <p:sp>
        <p:nvSpPr>
          <p:cNvPr id="14" name="Shape 12"/>
          <p:cNvSpPr/>
          <p:nvPr/>
        </p:nvSpPr>
        <p:spPr>
          <a:xfrm>
            <a:off x="5212080" y="1920240"/>
            <a:ext cx="2926080" cy="-914400"/>
          </a:xfrm>
          <a:prstGeom prst="line">
            <a:avLst/>
          </a:prstGeom>
          <a:noFill/>
          <a:ln w="12700">
            <a:solidFill>
              <a:srgbClr val="444444"/>
            </a:solidFill>
            <a:prstDash val="dash"/>
          </a:ln>
        </p:spPr>
      </p:sp>
      <p:sp>
        <p:nvSpPr>
          <p:cNvPr id="15" name="Text 13"/>
          <p:cNvSpPr/>
          <p:nvPr/>
        </p:nvSpPr>
        <p:spPr>
          <a:xfrm>
            <a:off x="4754880" y="2130552"/>
            <a:ext cx="4114800" cy="201168"/>
          </a:xfrm>
          <a:prstGeom prst="rect">
            <a:avLst/>
          </a:prstGeom>
          <a:noFill/>
          <a:ln/>
        </p:spPr>
        <p:txBody>
          <a:bodyPr wrap="square" lIns="0" tIns="0" rIns="0" bIns="0" rtlCol="0" anchor="ctr"/>
          <a:lstStyle/>
          <a:p>
            <a:pPr algn="l" indent="0" marL="0">
              <a:buNone/>
            </a:pPr>
            <a:r>
              <a:rPr lang="en-US" sz="900" i="1" dirty="0">
                <a:solidFill>
                  <a:srgbClr val="555555"/>
                </a:solidFill>
                <a:latin typeface="Calibri" pitchFamily="34" charset="0"/>
                <a:ea typeface="Calibri" pitchFamily="34" charset="-122"/>
                <a:cs typeface="Calibri" pitchFamily="34" charset="-120"/>
              </a:rPr>
              <a:t>five developers. five routes.</a:t>
            </a:r>
            <a:endParaRPr lang="en-US" sz="900" dirty="0"/>
          </a:p>
        </p:txBody>
      </p:sp>
      <p:sp>
        <p:nvSpPr>
          <p:cNvPr id="16" name="Shape 14"/>
          <p:cNvSpPr/>
          <p:nvPr/>
        </p:nvSpPr>
        <p:spPr>
          <a:xfrm>
            <a:off x="502920" y="2487168"/>
            <a:ext cx="8138160" cy="0"/>
          </a:xfrm>
          <a:prstGeom prst="line">
            <a:avLst/>
          </a:prstGeom>
          <a:noFill/>
          <a:ln w="6350">
            <a:solidFill>
              <a:srgbClr val="333333"/>
            </a:solidFill>
            <a:prstDash val="solid"/>
          </a:ln>
        </p:spPr>
      </p:sp>
      <p:sp>
        <p:nvSpPr>
          <p:cNvPr id="17" name="Text 15"/>
          <p:cNvSpPr/>
          <p:nvPr/>
        </p:nvSpPr>
        <p:spPr>
          <a:xfrm>
            <a:off x="502920" y="2633472"/>
            <a:ext cx="8138160" cy="658368"/>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AI is GPS. We’re driving.</a:t>
            </a:r>
            <a:endParaRPr lang="en-US" sz="4000" dirty="0"/>
          </a:p>
        </p:txBody>
      </p:sp>
      <p:sp>
        <p:nvSpPr>
          <p:cNvPr id="18" name="Text 16"/>
          <p:cNvSpPr/>
          <p:nvPr/>
        </p:nvSpPr>
        <p:spPr>
          <a:xfrm>
            <a:off x="502920" y="3310128"/>
            <a:ext cx="8138160" cy="347472"/>
          </a:xfrm>
          <a:prstGeom prst="rect">
            <a:avLst/>
          </a:prstGeom>
          <a:noFill/>
          <a:ln/>
        </p:spPr>
        <p:txBody>
          <a:bodyPr wrap="square" lIns="0" tIns="0" rIns="0" bIns="0" rtlCol="0" anchor="ctr"/>
          <a:lstStyle/>
          <a:p>
            <a:pPr algn="l" indent="0" marL="0">
              <a:buNone/>
            </a:pPr>
            <a:r>
              <a:rPr lang="en-US" sz="2000" dirty="0">
                <a:solidFill>
                  <a:srgbClr val="888888"/>
                </a:solidFill>
                <a:latin typeface="Calibri" pitchFamily="34" charset="0"/>
                <a:ea typeface="Calibri" pitchFamily="34" charset="-122"/>
                <a:cs typeface="Calibri" pitchFamily="34" charset="-120"/>
              </a:rPr>
              <a:t>Half of them have the volume off.</a:t>
            </a:r>
            <a:endParaRPr lang="en-US" sz="2000" dirty="0"/>
          </a:p>
        </p:txBody>
      </p:sp>
      <p:sp>
        <p:nvSpPr>
          <p:cNvPr id="19" name="Shape 17"/>
          <p:cNvSpPr/>
          <p:nvPr/>
        </p:nvSpPr>
        <p:spPr>
          <a:xfrm>
            <a:off x="502920" y="3803904"/>
            <a:ext cx="8138160" cy="0"/>
          </a:xfrm>
          <a:prstGeom prst="line">
            <a:avLst/>
          </a:prstGeom>
          <a:noFill/>
          <a:ln w="6350">
            <a:solidFill>
              <a:srgbClr val="333333"/>
            </a:solidFill>
            <a:prstDash val="solid"/>
          </a:ln>
        </p:spPr>
      </p:sp>
      <p:sp>
        <p:nvSpPr>
          <p:cNvPr id="20" name="Text 18"/>
          <p:cNvSpPr/>
          <p:nvPr/>
        </p:nvSpPr>
        <p:spPr>
          <a:xfrm>
            <a:off x="502920" y="3913632"/>
            <a:ext cx="5943600" cy="274320"/>
          </a:xfrm>
          <a:prstGeom prst="rect">
            <a:avLst/>
          </a:prstGeom>
          <a:noFill/>
          <a:ln/>
        </p:spPr>
        <p:txBody>
          <a:bodyPr wrap="square" lIns="0" tIns="0" rIns="0" bIns="0" rtlCol="0" anchor="ctr"/>
          <a:lstStyle/>
          <a:p>
            <a:pPr algn="l" indent="0" marL="0">
              <a:buNone/>
            </a:pPr>
            <a:r>
              <a:rPr lang="en-US" sz="1200" i="1" dirty="0">
                <a:solidFill>
                  <a:srgbClr val="666666"/>
                </a:solidFill>
                <a:latin typeface="Calibri" pitchFamily="34" charset="0"/>
                <a:ea typeface="Calibri" pitchFamily="34" charset="-122"/>
                <a:cs typeface="Calibri" pitchFamily="34" charset="-120"/>
              </a:rPr>
              <a:t>Don’t let AI work for you. Work better with AI.</a:t>
            </a:r>
            <a:endParaRPr lang="en-US" sz="1200" dirty="0"/>
          </a:p>
        </p:txBody>
      </p:sp>
      <p:sp>
        <p:nvSpPr>
          <p:cNvPr id="21" name="Text 19"/>
          <p:cNvSpPr/>
          <p:nvPr/>
        </p:nvSpPr>
        <p:spPr>
          <a:xfrm>
            <a:off x="502920" y="4773168"/>
            <a:ext cx="4114800" cy="201168"/>
          </a:xfrm>
          <a:prstGeom prst="rect">
            <a:avLst/>
          </a:prstGeom>
          <a:noFill/>
          <a:ln/>
        </p:spPr>
        <p:txBody>
          <a:bodyPr wrap="square" lIns="0" tIns="0" rIns="0" bIns="0" rtlCol="0" anchor="ctr"/>
          <a:lstStyle/>
          <a:p>
            <a:pPr algn="l" indent="0" marL="0">
              <a:buNone/>
            </a:pPr>
            <a:r>
              <a:rPr lang="en-US" sz="900" dirty="0">
                <a:solidFill>
                  <a:srgbClr val="444444"/>
                </a:solidFill>
                <a:latin typeface="Calibri" pitchFamily="34" charset="0"/>
                <a:ea typeface="Calibri" pitchFamily="34" charset="-122"/>
                <a:cs typeface="Calibri" pitchFamily="34" charset="-120"/>
              </a:rPr>
              <a:t>Techversant · AI Productivity Session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2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Same tools. Same team. Completely different results.</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3566160" cy="2560320"/>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sp>
        <p:nvSpPr>
          <p:cNvPr id="6" name="Text 4"/>
          <p:cNvSpPr/>
          <p:nvPr/>
        </p:nvSpPr>
        <p:spPr>
          <a:xfrm>
            <a:off x="685800" y="1527048"/>
            <a:ext cx="3200400" cy="256032"/>
          </a:xfrm>
          <a:prstGeom prst="rect">
            <a:avLst/>
          </a:prstGeom>
          <a:noFill/>
          <a:ln/>
        </p:spPr>
        <p:txBody>
          <a:bodyPr wrap="square" lIns="0" tIns="0" rIns="0" bIns="0" rtlCol="0" anchor="ctr"/>
          <a:lstStyle/>
          <a:p>
            <a:pPr algn="l" indent="0" marL="0">
              <a:buNone/>
            </a:pPr>
            <a:r>
              <a:rPr lang="en-US" sz="1000" b="1" spc="100" kern="0" dirty="0">
                <a:solidFill>
                  <a:srgbClr val="A0A8B3"/>
                </a:solidFill>
                <a:latin typeface="Calibri" pitchFamily="34" charset="0"/>
                <a:ea typeface="Calibri" pitchFamily="34" charset="-122"/>
                <a:cs typeface="Calibri" pitchFamily="34" charset="-120"/>
              </a:rPr>
              <a:t>what we expect</a:t>
            </a:r>
            <a:endParaRPr lang="en-US" sz="1000" dirty="0"/>
          </a:p>
        </p:txBody>
      </p:sp>
      <p:sp>
        <p:nvSpPr>
          <p:cNvPr id="7" name="Text 5"/>
          <p:cNvSpPr/>
          <p:nvPr/>
        </p:nvSpPr>
        <p:spPr>
          <a:xfrm>
            <a:off x="685800" y="1892808"/>
            <a:ext cx="3200400" cy="457200"/>
          </a:xfrm>
          <a:prstGeom prst="rect">
            <a:avLst/>
          </a:prstGeom>
          <a:noFill/>
          <a:ln/>
        </p:spPr>
        <p:txBody>
          <a:bodyPr wrap="square" lIns="0" tIns="0" rIns="0" bIns="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We use AI  →  we save time</a:t>
            </a:r>
            <a:endParaRPr lang="en-US" sz="1400" dirty="0"/>
          </a:p>
        </p:txBody>
      </p:sp>
      <p:sp>
        <p:nvSpPr>
          <p:cNvPr id="8" name="Shape 6"/>
          <p:cNvSpPr/>
          <p:nvPr/>
        </p:nvSpPr>
        <p:spPr>
          <a:xfrm>
            <a:off x="685800" y="2395728"/>
            <a:ext cx="3200400" cy="0"/>
          </a:xfrm>
          <a:prstGeom prst="line">
            <a:avLst/>
          </a:prstGeom>
          <a:noFill/>
          <a:ln w="3810">
            <a:solidFill>
              <a:srgbClr val="E5E7EB"/>
            </a:solidFill>
            <a:prstDash val="solid"/>
          </a:ln>
        </p:spPr>
      </p:sp>
      <p:sp>
        <p:nvSpPr>
          <p:cNvPr id="9" name="Text 7"/>
          <p:cNvSpPr/>
          <p:nvPr/>
        </p:nvSpPr>
        <p:spPr>
          <a:xfrm>
            <a:off x="685800" y="2459736"/>
            <a:ext cx="3200400" cy="457200"/>
          </a:xfrm>
          <a:prstGeom prst="rect">
            <a:avLst/>
          </a:prstGeom>
          <a:noFill/>
          <a:ln/>
        </p:spPr>
        <p:txBody>
          <a:bodyPr wrap="square" lIns="0" tIns="0" rIns="0" bIns="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We review code  →  consistent output</a:t>
            </a:r>
            <a:endParaRPr lang="en-US" sz="1400" dirty="0"/>
          </a:p>
        </p:txBody>
      </p:sp>
      <p:sp>
        <p:nvSpPr>
          <p:cNvPr id="10" name="Shape 8"/>
          <p:cNvSpPr/>
          <p:nvPr/>
        </p:nvSpPr>
        <p:spPr>
          <a:xfrm>
            <a:off x="685800" y="2962656"/>
            <a:ext cx="3200400" cy="0"/>
          </a:xfrm>
          <a:prstGeom prst="line">
            <a:avLst/>
          </a:prstGeom>
          <a:noFill/>
          <a:ln w="3810">
            <a:solidFill>
              <a:srgbClr val="E5E7EB"/>
            </a:solidFill>
            <a:prstDash val="solid"/>
          </a:ln>
        </p:spPr>
      </p:sp>
      <p:sp>
        <p:nvSpPr>
          <p:cNvPr id="11" name="Text 9"/>
          <p:cNvSpPr/>
          <p:nvPr/>
        </p:nvSpPr>
        <p:spPr>
          <a:xfrm>
            <a:off x="685800" y="3026664"/>
            <a:ext cx="3200400" cy="457200"/>
          </a:xfrm>
          <a:prstGeom prst="rect">
            <a:avLst/>
          </a:prstGeom>
          <a:noFill/>
          <a:ln/>
        </p:spPr>
        <p:txBody>
          <a:bodyPr wrap="square" lIns="0" tIns="0" rIns="0" bIns="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Same tools  →  same results</a:t>
            </a:r>
            <a:endParaRPr lang="en-US" sz="1400" dirty="0"/>
          </a:p>
        </p:txBody>
      </p:sp>
      <p:sp>
        <p:nvSpPr>
          <p:cNvPr id="12" name="Shape 10"/>
          <p:cNvSpPr/>
          <p:nvPr/>
        </p:nvSpPr>
        <p:spPr>
          <a:xfrm>
            <a:off x="5074920" y="1389888"/>
            <a:ext cx="3566160" cy="2560320"/>
          </a:xfrm>
          <a:prstGeom prst="rect">
            <a:avLst/>
          </a:prstGeom>
          <a:solidFill>
            <a:srgbClr val="F3F4F6"/>
          </a:solidFill>
          <a:ln w="6350">
            <a:solidFill>
              <a:srgbClr val="D1D5DB"/>
            </a:solidFill>
            <a:prstDash val="solid"/>
          </a:ln>
          <a:effectLst>
            <a:outerShdw sx="100000" sy="100000" kx="0" ky="0" algn="bl" rotWithShape="0" blurRad="63500" dist="25400" dir="8100000">
              <a:srgbClr val="000000">
                <a:alpha val="7000"/>
              </a:srgbClr>
            </a:outerShdw>
          </a:effectLst>
        </p:spPr>
      </p:sp>
      <p:sp>
        <p:nvSpPr>
          <p:cNvPr id="13" name="Text 11"/>
          <p:cNvSpPr/>
          <p:nvPr/>
        </p:nvSpPr>
        <p:spPr>
          <a:xfrm>
            <a:off x="5257800" y="1527048"/>
            <a:ext cx="3200400" cy="256032"/>
          </a:xfrm>
          <a:prstGeom prst="rect">
            <a:avLst/>
          </a:prstGeom>
          <a:noFill/>
          <a:ln/>
        </p:spPr>
        <p:txBody>
          <a:bodyPr wrap="square" lIns="0" tIns="0" rIns="0" bIns="0" rtlCol="0" anchor="ctr"/>
          <a:lstStyle/>
          <a:p>
            <a:pPr algn="l" indent="0" marL="0">
              <a:buNone/>
            </a:pPr>
            <a:r>
              <a:rPr lang="en-US" sz="1000" b="1" spc="100" kern="0" dirty="0">
                <a:solidFill>
                  <a:srgbClr val="6B7280"/>
                </a:solidFill>
                <a:latin typeface="Calibri" pitchFamily="34" charset="0"/>
                <a:ea typeface="Calibri" pitchFamily="34" charset="-122"/>
                <a:cs typeface="Calibri" pitchFamily="34" charset="-120"/>
              </a:rPr>
              <a:t>what actually happens</a:t>
            </a:r>
            <a:endParaRPr lang="en-US" sz="1000" dirty="0"/>
          </a:p>
        </p:txBody>
      </p:sp>
      <p:sp>
        <p:nvSpPr>
          <p:cNvPr id="14" name="Text 12"/>
          <p:cNvSpPr/>
          <p:nvPr/>
        </p:nvSpPr>
        <p:spPr>
          <a:xfrm>
            <a:off x="5257800" y="1892808"/>
            <a:ext cx="3200400" cy="40233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Everyone has their own "AI style"</a:t>
            </a:r>
            <a:endParaRPr lang="en-US" sz="1200" dirty="0"/>
          </a:p>
        </p:txBody>
      </p:sp>
      <p:sp>
        <p:nvSpPr>
          <p:cNvPr id="15" name="Shape 13"/>
          <p:cNvSpPr/>
          <p:nvPr/>
        </p:nvSpPr>
        <p:spPr>
          <a:xfrm>
            <a:off x="5257800" y="2331720"/>
            <a:ext cx="3200400" cy="0"/>
          </a:xfrm>
          <a:prstGeom prst="line">
            <a:avLst/>
          </a:prstGeom>
          <a:noFill/>
          <a:ln w="3810">
            <a:solidFill>
              <a:srgbClr val="E5E7EB"/>
            </a:solidFill>
            <a:prstDash val="solid"/>
          </a:ln>
        </p:spPr>
      </p:sp>
      <p:sp>
        <p:nvSpPr>
          <p:cNvPr id="16" name="Text 14"/>
          <p:cNvSpPr/>
          <p:nvPr/>
        </p:nvSpPr>
        <p:spPr>
          <a:xfrm>
            <a:off x="5257800" y="2368296"/>
            <a:ext cx="3200400" cy="40233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No shared workflow  →  no predictability</a:t>
            </a:r>
            <a:endParaRPr lang="en-US" sz="1200" dirty="0"/>
          </a:p>
        </p:txBody>
      </p:sp>
      <p:sp>
        <p:nvSpPr>
          <p:cNvPr id="17" name="Shape 15"/>
          <p:cNvSpPr/>
          <p:nvPr/>
        </p:nvSpPr>
        <p:spPr>
          <a:xfrm>
            <a:off x="5257800" y="2807208"/>
            <a:ext cx="3200400" cy="0"/>
          </a:xfrm>
          <a:prstGeom prst="line">
            <a:avLst/>
          </a:prstGeom>
          <a:noFill/>
          <a:ln w="3810">
            <a:solidFill>
              <a:srgbClr val="E5E7EB"/>
            </a:solidFill>
            <a:prstDash val="solid"/>
          </a:ln>
        </p:spPr>
      </p:sp>
      <p:sp>
        <p:nvSpPr>
          <p:cNvPr id="18" name="Text 16"/>
          <p:cNvSpPr/>
          <p:nvPr/>
        </p:nvSpPr>
        <p:spPr>
          <a:xfrm>
            <a:off x="5257800" y="2843784"/>
            <a:ext cx="3200400" cy="40233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Copy  →  paste  →  ship  →  debug  →  repeat</a:t>
            </a:r>
            <a:endParaRPr lang="en-US" sz="1200" dirty="0"/>
          </a:p>
        </p:txBody>
      </p:sp>
      <p:sp>
        <p:nvSpPr>
          <p:cNvPr id="19" name="Shape 17"/>
          <p:cNvSpPr/>
          <p:nvPr/>
        </p:nvSpPr>
        <p:spPr>
          <a:xfrm>
            <a:off x="5257800" y="3282696"/>
            <a:ext cx="3200400" cy="0"/>
          </a:xfrm>
          <a:prstGeom prst="line">
            <a:avLst/>
          </a:prstGeom>
          <a:noFill/>
          <a:ln w="3810">
            <a:solidFill>
              <a:srgbClr val="E5E7EB"/>
            </a:solidFill>
            <a:prstDash val="solid"/>
          </a:ln>
        </p:spPr>
      </p:sp>
      <p:sp>
        <p:nvSpPr>
          <p:cNvPr id="20" name="Text 18"/>
          <p:cNvSpPr/>
          <p:nvPr/>
        </p:nvSpPr>
        <p:spPr>
          <a:xfrm>
            <a:off x="5257800" y="3319272"/>
            <a:ext cx="3200400" cy="40233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No measurement  →  no improvement</a:t>
            </a:r>
            <a:endParaRPr lang="en-US" sz="1200" dirty="0"/>
          </a:p>
        </p:txBody>
      </p:sp>
      <p:sp>
        <p:nvSpPr>
          <p:cNvPr id="21" name="Shape 19"/>
          <p:cNvSpPr/>
          <p:nvPr/>
        </p:nvSpPr>
        <p:spPr>
          <a:xfrm>
            <a:off x="0" y="4224528"/>
            <a:ext cx="9144000" cy="566928"/>
          </a:xfrm>
          <a:prstGeom prst="rect">
            <a:avLst/>
          </a:prstGeom>
          <a:solidFill>
            <a:srgbClr val="111111"/>
          </a:solidFill>
          <a:ln w="12700">
            <a:solidFill>
              <a:srgbClr val="111111"/>
            </a:solidFill>
            <a:prstDash val="solid"/>
          </a:ln>
        </p:spPr>
      </p:sp>
      <p:sp>
        <p:nvSpPr>
          <p:cNvPr id="22" name="Text 20"/>
          <p:cNvSpPr/>
          <p:nvPr/>
        </p:nvSpPr>
        <p:spPr>
          <a:xfrm>
            <a:off x="502920" y="4224528"/>
            <a:ext cx="8229600" cy="566928"/>
          </a:xfrm>
          <a:prstGeom prst="rect">
            <a:avLst/>
          </a:prstGeom>
          <a:noFill/>
          <a:ln/>
        </p:spPr>
        <p:txBody>
          <a:bodyPr wrap="square" lIns="0" tIns="0" rIns="0" bIns="0" rtlCol="0" anchor="ctr"/>
          <a:lstStyle/>
          <a:p>
            <a:pPr algn="ctr" indent="0" marL="0">
              <a:buNone/>
            </a:pPr>
            <a:r>
              <a:rPr lang="en-US" sz="1600" b="1" i="1" dirty="0">
                <a:solidFill>
                  <a:srgbClr val="FFFFFF"/>
                </a:solidFill>
                <a:latin typeface="Calibri" pitchFamily="34" charset="0"/>
                <a:ea typeface="Calibri" pitchFamily="34" charset="-122"/>
                <a:cs typeface="Calibri" pitchFamily="34" charset="-120"/>
              </a:rPr>
              <a:t>“We don’t have an AI problem. We have a process problem.”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3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One route. Everyone follows it. Everyone arrives.</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417320"/>
            <a:ext cx="3840480" cy="1280160"/>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pic>
        <p:nvPicPr>
          <p:cNvPr id="6" name="Image 0" descr="preencoded.png">    </p:cNvPr>
          <p:cNvPicPr>
            <a:picLocks noChangeAspect="1"/>
          </p:cNvPicPr>
          <p:nvPr/>
        </p:nvPicPr>
        <p:blipFill>
          <a:blip r:embed="rId1"/>
          <a:stretch>
            <a:fillRect/>
          </a:stretch>
        </p:blipFill>
        <p:spPr>
          <a:xfrm>
            <a:off x="704088" y="1709928"/>
            <a:ext cx="310896" cy="310896"/>
          </a:xfrm>
          <a:prstGeom prst="rect">
            <a:avLst/>
          </a:prstGeom>
        </p:spPr>
      </p:pic>
      <p:sp>
        <p:nvSpPr>
          <p:cNvPr id="7" name="Text 4"/>
          <p:cNvSpPr/>
          <p:nvPr/>
        </p:nvSpPr>
        <p:spPr>
          <a:xfrm>
            <a:off x="1124712" y="1581912"/>
            <a:ext cx="3090672"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Shared workflow</a:t>
            </a:r>
            <a:endParaRPr lang="en-US" sz="1600" dirty="0"/>
          </a:p>
        </p:txBody>
      </p:sp>
      <p:sp>
        <p:nvSpPr>
          <p:cNvPr id="8" name="Text 5"/>
          <p:cNvSpPr/>
          <p:nvPr/>
        </p:nvSpPr>
        <p:spPr>
          <a:xfrm>
            <a:off x="1124712" y="1892808"/>
            <a:ext cx="3090672" cy="64008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One process. Every task. Every person.</a:t>
            </a:r>
            <a:endParaRPr lang="en-US" sz="1200" dirty="0"/>
          </a:p>
        </p:txBody>
      </p:sp>
      <p:sp>
        <p:nvSpPr>
          <p:cNvPr id="9" name="Shape 6"/>
          <p:cNvSpPr/>
          <p:nvPr/>
        </p:nvSpPr>
        <p:spPr>
          <a:xfrm>
            <a:off x="4572000" y="1417320"/>
            <a:ext cx="3840480" cy="1280160"/>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pic>
        <p:nvPicPr>
          <p:cNvPr id="10" name="Image 1" descr="preencoded.png">    </p:cNvPr>
          <p:cNvPicPr>
            <a:picLocks noChangeAspect="1"/>
          </p:cNvPicPr>
          <p:nvPr/>
        </p:nvPicPr>
        <p:blipFill>
          <a:blip r:embed="rId2"/>
          <a:stretch>
            <a:fillRect/>
          </a:stretch>
        </p:blipFill>
        <p:spPr>
          <a:xfrm>
            <a:off x="4773168" y="1709928"/>
            <a:ext cx="310896" cy="310896"/>
          </a:xfrm>
          <a:prstGeom prst="rect">
            <a:avLst/>
          </a:prstGeom>
        </p:spPr>
      </p:pic>
      <p:sp>
        <p:nvSpPr>
          <p:cNvPr id="11" name="Text 7"/>
          <p:cNvSpPr/>
          <p:nvPr/>
        </p:nvSpPr>
        <p:spPr>
          <a:xfrm>
            <a:off x="5193792" y="1581912"/>
            <a:ext cx="3090672"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Shared context</a:t>
            </a:r>
            <a:endParaRPr lang="en-US" sz="1600" dirty="0"/>
          </a:p>
        </p:txBody>
      </p:sp>
      <p:sp>
        <p:nvSpPr>
          <p:cNvPr id="12" name="Text 8"/>
          <p:cNvSpPr/>
          <p:nvPr/>
        </p:nvSpPr>
        <p:spPr>
          <a:xfrm>
            <a:off x="5193792" y="1892808"/>
            <a:ext cx="3090672" cy="64008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CLAUDE.md + .cursorrules per project.</a:t>
            </a:r>
            <a:endParaRPr lang="en-US" sz="1200" dirty="0"/>
          </a:p>
        </p:txBody>
      </p:sp>
      <p:sp>
        <p:nvSpPr>
          <p:cNvPr id="13" name="Shape 9"/>
          <p:cNvSpPr/>
          <p:nvPr/>
        </p:nvSpPr>
        <p:spPr>
          <a:xfrm>
            <a:off x="502920" y="2926080"/>
            <a:ext cx="3840480" cy="1280160"/>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pic>
        <p:nvPicPr>
          <p:cNvPr id="14" name="Image 2" descr="preencoded.png">    </p:cNvPr>
          <p:cNvPicPr>
            <a:picLocks noChangeAspect="1"/>
          </p:cNvPicPr>
          <p:nvPr/>
        </p:nvPicPr>
        <p:blipFill>
          <a:blip r:embed="rId3"/>
          <a:stretch>
            <a:fillRect/>
          </a:stretch>
        </p:blipFill>
        <p:spPr>
          <a:xfrm>
            <a:off x="704088" y="3218688"/>
            <a:ext cx="310896" cy="310896"/>
          </a:xfrm>
          <a:prstGeom prst="rect">
            <a:avLst/>
          </a:prstGeom>
        </p:spPr>
      </p:pic>
      <p:sp>
        <p:nvSpPr>
          <p:cNvPr id="15" name="Text 10"/>
          <p:cNvSpPr/>
          <p:nvPr/>
        </p:nvSpPr>
        <p:spPr>
          <a:xfrm>
            <a:off x="1124712" y="3090672"/>
            <a:ext cx="3090672"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Clear tool roles</a:t>
            </a:r>
            <a:endParaRPr lang="en-US" sz="1600" dirty="0"/>
          </a:p>
        </p:txBody>
      </p:sp>
      <p:sp>
        <p:nvSpPr>
          <p:cNvPr id="16" name="Text 11"/>
          <p:cNvSpPr/>
          <p:nvPr/>
        </p:nvSpPr>
        <p:spPr>
          <a:xfrm>
            <a:off x="1124712" y="3401568"/>
            <a:ext cx="3090672" cy="64008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Claude plans · Cursor builds · Copilot assists.</a:t>
            </a:r>
            <a:endParaRPr lang="en-US" sz="1200" dirty="0"/>
          </a:p>
        </p:txBody>
      </p:sp>
      <p:sp>
        <p:nvSpPr>
          <p:cNvPr id="17" name="Shape 12"/>
          <p:cNvSpPr/>
          <p:nvPr/>
        </p:nvSpPr>
        <p:spPr>
          <a:xfrm>
            <a:off x="4572000" y="2926080"/>
            <a:ext cx="3840480" cy="1280160"/>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pic>
        <p:nvPicPr>
          <p:cNvPr id="18" name="Image 3" descr="preencoded.png">    </p:cNvPr>
          <p:cNvPicPr>
            <a:picLocks noChangeAspect="1"/>
          </p:cNvPicPr>
          <p:nvPr/>
        </p:nvPicPr>
        <p:blipFill>
          <a:blip r:embed="rId4"/>
          <a:stretch>
            <a:fillRect/>
          </a:stretch>
        </p:blipFill>
        <p:spPr>
          <a:xfrm>
            <a:off x="4773168" y="3218688"/>
            <a:ext cx="310896" cy="310896"/>
          </a:xfrm>
          <a:prstGeom prst="rect">
            <a:avLst/>
          </a:prstGeom>
        </p:spPr>
      </p:pic>
      <p:sp>
        <p:nvSpPr>
          <p:cNvPr id="19" name="Text 13"/>
          <p:cNvSpPr/>
          <p:nvPr/>
        </p:nvSpPr>
        <p:spPr>
          <a:xfrm>
            <a:off x="5193792" y="3090672"/>
            <a:ext cx="3090672"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Feedback loop</a:t>
            </a:r>
            <a:endParaRPr lang="en-US" sz="1600" dirty="0"/>
          </a:p>
        </p:txBody>
      </p:sp>
      <p:sp>
        <p:nvSpPr>
          <p:cNvPr id="20" name="Text 14"/>
          <p:cNvSpPr/>
          <p:nvPr/>
        </p:nvSpPr>
        <p:spPr>
          <a:xfrm>
            <a:off x="5193792" y="3401568"/>
            <a:ext cx="3090672" cy="64008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Measure what ships. Learn. Adjust.</a:t>
            </a:r>
            <a:endParaRPr lang="en-US" sz="1200" dirty="0"/>
          </a:p>
        </p:txBody>
      </p:sp>
      <p:sp>
        <p:nvSpPr>
          <p:cNvPr id="21" name="Shape 15"/>
          <p:cNvSpPr/>
          <p:nvPr/>
        </p:nvSpPr>
        <p:spPr>
          <a:xfrm>
            <a:off x="502920" y="4160520"/>
            <a:ext cx="8138160" cy="0"/>
          </a:xfrm>
          <a:prstGeom prst="line">
            <a:avLst/>
          </a:prstGeom>
          <a:noFill/>
          <a:ln w="6350">
            <a:solidFill>
              <a:srgbClr val="E5E7EB"/>
            </a:solidFill>
            <a:prstDash val="solid"/>
          </a:ln>
        </p:spPr>
      </p:sp>
      <p:sp>
        <p:nvSpPr>
          <p:cNvPr id="22" name="Text 16"/>
          <p:cNvSpPr/>
          <p:nvPr/>
        </p:nvSpPr>
        <p:spPr>
          <a:xfrm>
            <a:off x="502920" y="4251960"/>
            <a:ext cx="1965960" cy="347472"/>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PR cycles ↓</a:t>
            </a:r>
            <a:endParaRPr lang="en-US" sz="1200" dirty="0"/>
          </a:p>
        </p:txBody>
      </p:sp>
      <p:sp>
        <p:nvSpPr>
          <p:cNvPr id="23" name="Text 17"/>
          <p:cNvSpPr/>
          <p:nvPr/>
        </p:nvSpPr>
        <p:spPr>
          <a:xfrm>
            <a:off x="2560320" y="4251960"/>
            <a:ext cx="1965960" cy="347472"/>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Bug rate ↓</a:t>
            </a:r>
            <a:endParaRPr lang="en-US" sz="1200" dirty="0"/>
          </a:p>
        </p:txBody>
      </p:sp>
      <p:sp>
        <p:nvSpPr>
          <p:cNvPr id="24" name="Text 18"/>
          <p:cNvSpPr/>
          <p:nvPr/>
        </p:nvSpPr>
        <p:spPr>
          <a:xfrm>
            <a:off x="4617720" y="4251960"/>
            <a:ext cx="1965960" cy="347472"/>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Onboarding time ↓</a:t>
            </a:r>
            <a:endParaRPr lang="en-US" sz="1200" dirty="0"/>
          </a:p>
        </p:txBody>
      </p:sp>
      <p:sp>
        <p:nvSpPr>
          <p:cNvPr id="25" name="Text 19"/>
          <p:cNvSpPr/>
          <p:nvPr/>
        </p:nvSpPr>
        <p:spPr>
          <a:xfrm>
            <a:off x="6675120" y="4251960"/>
            <a:ext cx="1965960" cy="347472"/>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Predictability ↑</a:t>
            </a:r>
            <a:endParaRPr lang="en-US" sz="1200" dirty="0"/>
          </a:p>
        </p:txBody>
      </p:sp>
      <p:sp>
        <p:nvSpPr>
          <p:cNvPr id="26" name="Text 20"/>
          <p:cNvSpPr/>
          <p:nvPr/>
        </p:nvSpPr>
        <p:spPr>
          <a:xfrm>
            <a:off x="502920" y="4645152"/>
            <a:ext cx="8138160" cy="256032"/>
          </a:xfrm>
          <a:prstGeom prst="rect">
            <a:avLst/>
          </a:prstGeom>
          <a:noFill/>
          <a:ln/>
        </p:spPr>
        <p:txBody>
          <a:bodyPr wrap="square" lIns="0" tIns="0" rIns="0" bIns="0" rtlCol="0" anchor="ctr"/>
          <a:lstStyle/>
          <a:p>
            <a:pPr algn="ctr" indent="0" marL="0">
              <a:buNone/>
            </a:pPr>
            <a:r>
              <a:rPr lang="en-US" sz="1200" i="1" dirty="0">
                <a:solidFill>
                  <a:srgbClr val="A0A8B3"/>
                </a:solidFill>
                <a:latin typeface="Calibri" pitchFamily="34" charset="0"/>
                <a:ea typeface="Calibri" pitchFamily="34" charset="-122"/>
                <a:cs typeface="Calibri" pitchFamily="34" charset="-120"/>
              </a:rPr>
              <a:t>“Consistency beats individual brilliance.”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4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Right instrument. Right moment.</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417320"/>
            <a:ext cx="8138160" cy="329184"/>
          </a:xfrm>
          <a:prstGeom prst="rect">
            <a:avLst/>
          </a:prstGeom>
          <a:solidFill>
            <a:srgbClr val="111111"/>
          </a:solidFill>
          <a:ln w="12700">
            <a:solidFill>
              <a:srgbClr val="111111"/>
            </a:solidFill>
            <a:prstDash val="solid"/>
          </a:ln>
        </p:spPr>
      </p:sp>
      <p:sp>
        <p:nvSpPr>
          <p:cNvPr id="6" name="Text 4"/>
          <p:cNvSpPr/>
          <p:nvPr/>
        </p:nvSpPr>
        <p:spPr>
          <a:xfrm>
            <a:off x="640080" y="1417320"/>
            <a:ext cx="169164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p>
        </p:txBody>
      </p:sp>
      <p:sp>
        <p:nvSpPr>
          <p:cNvPr id="7" name="Text 5"/>
          <p:cNvSpPr/>
          <p:nvPr/>
        </p:nvSpPr>
        <p:spPr>
          <a:xfrm>
            <a:off x="2468880" y="1417320"/>
            <a:ext cx="187452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p>
        </p:txBody>
      </p:sp>
      <p:sp>
        <p:nvSpPr>
          <p:cNvPr id="8" name="Text 6"/>
          <p:cNvSpPr/>
          <p:nvPr/>
        </p:nvSpPr>
        <p:spPr>
          <a:xfrm>
            <a:off x="4480560" y="1417320"/>
            <a:ext cx="416052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Best for</a:t>
            </a:r>
            <a:endParaRPr lang="en-US" sz="1200" dirty="0"/>
          </a:p>
        </p:txBody>
      </p:sp>
      <p:sp>
        <p:nvSpPr>
          <p:cNvPr id="9" name="Shape 7"/>
          <p:cNvSpPr/>
          <p:nvPr/>
        </p:nvSpPr>
        <p:spPr>
          <a:xfrm>
            <a:off x="502920" y="1746504"/>
            <a:ext cx="8138160" cy="493776"/>
          </a:xfrm>
          <a:prstGeom prst="rect">
            <a:avLst/>
          </a:prstGeom>
          <a:solidFill>
            <a:srgbClr val="FFFFFF"/>
          </a:solidFill>
          <a:ln w="6350">
            <a:solidFill>
              <a:srgbClr val="E5E7EB"/>
            </a:solidFill>
            <a:prstDash val="solid"/>
          </a:ln>
        </p:spPr>
      </p:sp>
      <p:sp>
        <p:nvSpPr>
          <p:cNvPr id="10" name="Text 8"/>
          <p:cNvSpPr/>
          <p:nvPr/>
        </p:nvSpPr>
        <p:spPr>
          <a:xfrm>
            <a:off x="640080" y="1783080"/>
            <a:ext cx="1645920" cy="42062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Claude</a:t>
            </a:r>
            <a:endParaRPr lang="en-US" sz="1200" dirty="0"/>
          </a:p>
        </p:txBody>
      </p:sp>
      <p:sp>
        <p:nvSpPr>
          <p:cNvPr id="11" name="Shape 9"/>
          <p:cNvSpPr/>
          <p:nvPr/>
        </p:nvSpPr>
        <p:spPr>
          <a:xfrm>
            <a:off x="2331720" y="1746504"/>
            <a:ext cx="0" cy="493776"/>
          </a:xfrm>
          <a:prstGeom prst="line">
            <a:avLst/>
          </a:prstGeom>
          <a:noFill/>
          <a:ln w="3810">
            <a:solidFill>
              <a:srgbClr val="E5E7EB"/>
            </a:solidFill>
            <a:prstDash val="solid"/>
          </a:ln>
        </p:spPr>
      </p:sp>
      <p:sp>
        <p:nvSpPr>
          <p:cNvPr id="12" name="Text 10"/>
          <p:cNvSpPr/>
          <p:nvPr/>
        </p:nvSpPr>
        <p:spPr>
          <a:xfrm>
            <a:off x="2468880" y="1783080"/>
            <a:ext cx="1828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Long-range planner</a:t>
            </a:r>
            <a:endParaRPr lang="en-US" sz="1000" dirty="0"/>
          </a:p>
        </p:txBody>
      </p:sp>
      <p:sp>
        <p:nvSpPr>
          <p:cNvPr id="13" name="Shape 11"/>
          <p:cNvSpPr/>
          <p:nvPr/>
        </p:nvSpPr>
        <p:spPr>
          <a:xfrm>
            <a:off x="4343400" y="1746504"/>
            <a:ext cx="0" cy="493776"/>
          </a:xfrm>
          <a:prstGeom prst="line">
            <a:avLst/>
          </a:prstGeom>
          <a:noFill/>
          <a:ln w="3810">
            <a:solidFill>
              <a:srgbClr val="E5E7EB"/>
            </a:solidFill>
            <a:prstDash val="solid"/>
          </a:ln>
        </p:spPr>
      </p:sp>
      <p:sp>
        <p:nvSpPr>
          <p:cNvPr id="14" name="Text 12"/>
          <p:cNvSpPr/>
          <p:nvPr/>
        </p:nvSpPr>
        <p:spPr>
          <a:xfrm>
            <a:off x="4480560" y="1783080"/>
            <a:ext cx="4114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Architecture · Planning · Complex reasoning · Long documents</a:t>
            </a:r>
            <a:endParaRPr lang="en-US" sz="1000" dirty="0"/>
          </a:p>
        </p:txBody>
      </p:sp>
      <p:sp>
        <p:nvSpPr>
          <p:cNvPr id="15" name="Shape 13"/>
          <p:cNvSpPr/>
          <p:nvPr/>
        </p:nvSpPr>
        <p:spPr>
          <a:xfrm>
            <a:off x="502920" y="2240280"/>
            <a:ext cx="8138160" cy="493776"/>
          </a:xfrm>
          <a:prstGeom prst="rect">
            <a:avLst/>
          </a:prstGeom>
          <a:solidFill>
            <a:srgbClr val="F3F4F6"/>
          </a:solidFill>
          <a:ln w="6350">
            <a:solidFill>
              <a:srgbClr val="E5E7EB"/>
            </a:solidFill>
            <a:prstDash val="solid"/>
          </a:ln>
        </p:spPr>
      </p:sp>
      <p:sp>
        <p:nvSpPr>
          <p:cNvPr id="16" name="Text 14"/>
          <p:cNvSpPr/>
          <p:nvPr/>
        </p:nvSpPr>
        <p:spPr>
          <a:xfrm>
            <a:off x="640080" y="2276856"/>
            <a:ext cx="1645920" cy="42062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Cursor</a:t>
            </a:r>
            <a:endParaRPr lang="en-US" sz="1200" dirty="0"/>
          </a:p>
        </p:txBody>
      </p:sp>
      <p:sp>
        <p:nvSpPr>
          <p:cNvPr id="17" name="Shape 15"/>
          <p:cNvSpPr/>
          <p:nvPr/>
        </p:nvSpPr>
        <p:spPr>
          <a:xfrm>
            <a:off x="2331720" y="2240280"/>
            <a:ext cx="0" cy="493776"/>
          </a:xfrm>
          <a:prstGeom prst="line">
            <a:avLst/>
          </a:prstGeom>
          <a:noFill/>
          <a:ln w="3810">
            <a:solidFill>
              <a:srgbClr val="E5E7EB"/>
            </a:solidFill>
            <a:prstDash val="solid"/>
          </a:ln>
        </p:spPr>
      </p:sp>
      <p:sp>
        <p:nvSpPr>
          <p:cNvPr id="18" name="Text 16"/>
          <p:cNvSpPr/>
          <p:nvPr/>
        </p:nvSpPr>
        <p:spPr>
          <a:xfrm>
            <a:off x="2468880" y="2276856"/>
            <a:ext cx="1828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Turn-by-turn navigation</a:t>
            </a:r>
            <a:endParaRPr lang="en-US" sz="1000" dirty="0"/>
          </a:p>
        </p:txBody>
      </p:sp>
      <p:sp>
        <p:nvSpPr>
          <p:cNvPr id="19" name="Shape 17"/>
          <p:cNvSpPr/>
          <p:nvPr/>
        </p:nvSpPr>
        <p:spPr>
          <a:xfrm>
            <a:off x="4343400" y="2240280"/>
            <a:ext cx="0" cy="493776"/>
          </a:xfrm>
          <a:prstGeom prst="line">
            <a:avLst/>
          </a:prstGeom>
          <a:noFill/>
          <a:ln w="3810">
            <a:solidFill>
              <a:srgbClr val="E5E7EB"/>
            </a:solidFill>
            <a:prstDash val="solid"/>
          </a:ln>
        </p:spPr>
      </p:sp>
      <p:sp>
        <p:nvSpPr>
          <p:cNvPr id="20" name="Text 18"/>
          <p:cNvSpPr/>
          <p:nvPr/>
        </p:nvSpPr>
        <p:spPr>
          <a:xfrm>
            <a:off x="4480560" y="2276856"/>
            <a:ext cx="4114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In-file editing · Multi-file refactoring · Codebase-aware changes</a:t>
            </a:r>
            <a:endParaRPr lang="en-US" sz="1000" dirty="0"/>
          </a:p>
        </p:txBody>
      </p:sp>
      <p:sp>
        <p:nvSpPr>
          <p:cNvPr id="21" name="Shape 19"/>
          <p:cNvSpPr/>
          <p:nvPr/>
        </p:nvSpPr>
        <p:spPr>
          <a:xfrm>
            <a:off x="502920" y="2734056"/>
            <a:ext cx="8138160" cy="493776"/>
          </a:xfrm>
          <a:prstGeom prst="rect">
            <a:avLst/>
          </a:prstGeom>
          <a:solidFill>
            <a:srgbClr val="FFFFFF"/>
          </a:solidFill>
          <a:ln w="6350">
            <a:solidFill>
              <a:srgbClr val="E5E7EB"/>
            </a:solidFill>
            <a:prstDash val="solid"/>
          </a:ln>
        </p:spPr>
      </p:sp>
      <p:sp>
        <p:nvSpPr>
          <p:cNvPr id="22" name="Text 20"/>
          <p:cNvSpPr/>
          <p:nvPr/>
        </p:nvSpPr>
        <p:spPr>
          <a:xfrm>
            <a:off x="640080" y="2770632"/>
            <a:ext cx="1645920" cy="42062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Copilot</a:t>
            </a:r>
            <a:endParaRPr lang="en-US" sz="1200" dirty="0"/>
          </a:p>
        </p:txBody>
      </p:sp>
      <p:sp>
        <p:nvSpPr>
          <p:cNvPr id="23" name="Shape 21"/>
          <p:cNvSpPr/>
          <p:nvPr/>
        </p:nvSpPr>
        <p:spPr>
          <a:xfrm>
            <a:off x="2331720" y="2734056"/>
            <a:ext cx="0" cy="493776"/>
          </a:xfrm>
          <a:prstGeom prst="line">
            <a:avLst/>
          </a:prstGeom>
          <a:noFill/>
          <a:ln w="3810">
            <a:solidFill>
              <a:srgbClr val="E5E7EB"/>
            </a:solidFill>
            <a:prstDash val="solid"/>
          </a:ln>
        </p:spPr>
      </p:sp>
      <p:sp>
        <p:nvSpPr>
          <p:cNvPr id="24" name="Text 22"/>
          <p:cNvSpPr/>
          <p:nvPr/>
        </p:nvSpPr>
        <p:spPr>
          <a:xfrm>
            <a:off x="2468880" y="2770632"/>
            <a:ext cx="1828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Heads-up display</a:t>
            </a:r>
            <a:endParaRPr lang="en-US" sz="1000" dirty="0"/>
          </a:p>
        </p:txBody>
      </p:sp>
      <p:sp>
        <p:nvSpPr>
          <p:cNvPr id="25" name="Shape 23"/>
          <p:cNvSpPr/>
          <p:nvPr/>
        </p:nvSpPr>
        <p:spPr>
          <a:xfrm>
            <a:off x="4343400" y="2734056"/>
            <a:ext cx="0" cy="493776"/>
          </a:xfrm>
          <a:prstGeom prst="line">
            <a:avLst/>
          </a:prstGeom>
          <a:noFill/>
          <a:ln w="3810">
            <a:solidFill>
              <a:srgbClr val="E5E7EB"/>
            </a:solidFill>
            <a:prstDash val="solid"/>
          </a:ln>
        </p:spPr>
      </p:sp>
      <p:sp>
        <p:nvSpPr>
          <p:cNvPr id="26" name="Text 24"/>
          <p:cNvSpPr/>
          <p:nvPr/>
        </p:nvSpPr>
        <p:spPr>
          <a:xfrm>
            <a:off x="4480560" y="2770632"/>
            <a:ext cx="4114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Inline autocomplete · PR summaries · Fast completions</a:t>
            </a:r>
            <a:endParaRPr lang="en-US" sz="1000" dirty="0"/>
          </a:p>
        </p:txBody>
      </p:sp>
      <p:sp>
        <p:nvSpPr>
          <p:cNvPr id="27" name="Shape 25"/>
          <p:cNvSpPr/>
          <p:nvPr/>
        </p:nvSpPr>
        <p:spPr>
          <a:xfrm>
            <a:off x="502920" y="3227832"/>
            <a:ext cx="8138160" cy="493776"/>
          </a:xfrm>
          <a:prstGeom prst="rect">
            <a:avLst/>
          </a:prstGeom>
          <a:solidFill>
            <a:srgbClr val="F3F4F6"/>
          </a:solidFill>
          <a:ln w="6350">
            <a:solidFill>
              <a:srgbClr val="E5E7EB"/>
            </a:solidFill>
            <a:prstDash val="solid"/>
          </a:ln>
        </p:spPr>
      </p:sp>
      <p:sp>
        <p:nvSpPr>
          <p:cNvPr id="28" name="Text 26"/>
          <p:cNvSpPr/>
          <p:nvPr/>
        </p:nvSpPr>
        <p:spPr>
          <a:xfrm>
            <a:off x="640080" y="3264408"/>
            <a:ext cx="1645920" cy="42062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ChatGPT</a:t>
            </a:r>
            <a:endParaRPr lang="en-US" sz="1200" dirty="0"/>
          </a:p>
        </p:txBody>
      </p:sp>
      <p:sp>
        <p:nvSpPr>
          <p:cNvPr id="29" name="Shape 27"/>
          <p:cNvSpPr/>
          <p:nvPr/>
        </p:nvSpPr>
        <p:spPr>
          <a:xfrm>
            <a:off x="2331720" y="3227832"/>
            <a:ext cx="0" cy="493776"/>
          </a:xfrm>
          <a:prstGeom prst="line">
            <a:avLst/>
          </a:prstGeom>
          <a:noFill/>
          <a:ln w="3810">
            <a:solidFill>
              <a:srgbClr val="E5E7EB"/>
            </a:solidFill>
            <a:prstDash val="solid"/>
          </a:ln>
        </p:spPr>
      </p:sp>
      <p:sp>
        <p:nvSpPr>
          <p:cNvPr id="30" name="Text 28"/>
          <p:cNvSpPr/>
          <p:nvPr/>
        </p:nvSpPr>
        <p:spPr>
          <a:xfrm>
            <a:off x="2468880" y="3264408"/>
            <a:ext cx="1828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Offline map</a:t>
            </a:r>
            <a:endParaRPr lang="en-US" sz="1000" dirty="0"/>
          </a:p>
        </p:txBody>
      </p:sp>
      <p:sp>
        <p:nvSpPr>
          <p:cNvPr id="31" name="Shape 29"/>
          <p:cNvSpPr/>
          <p:nvPr/>
        </p:nvSpPr>
        <p:spPr>
          <a:xfrm>
            <a:off x="4343400" y="3227832"/>
            <a:ext cx="0" cy="493776"/>
          </a:xfrm>
          <a:prstGeom prst="line">
            <a:avLst/>
          </a:prstGeom>
          <a:noFill/>
          <a:ln w="3810">
            <a:solidFill>
              <a:srgbClr val="E5E7EB"/>
            </a:solidFill>
            <a:prstDash val="solid"/>
          </a:ln>
        </p:spPr>
      </p:sp>
      <p:sp>
        <p:nvSpPr>
          <p:cNvPr id="32" name="Text 30"/>
          <p:cNvSpPr/>
          <p:nvPr/>
        </p:nvSpPr>
        <p:spPr>
          <a:xfrm>
            <a:off x="4480560" y="3264408"/>
            <a:ext cx="41148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Quick Q&amp;A · Exploration · No project context</a:t>
            </a:r>
            <a:endParaRPr lang="en-US" sz="1000" dirty="0"/>
          </a:p>
        </p:txBody>
      </p:sp>
      <p:sp>
        <p:nvSpPr>
          <p:cNvPr id="33" name="Shape 31"/>
          <p:cNvSpPr/>
          <p:nvPr/>
        </p:nvSpPr>
        <p:spPr>
          <a:xfrm>
            <a:off x="502920" y="3922776"/>
            <a:ext cx="8138160" cy="0"/>
          </a:xfrm>
          <a:prstGeom prst="line">
            <a:avLst/>
          </a:prstGeom>
          <a:noFill/>
          <a:ln w="3810">
            <a:solidFill>
              <a:srgbClr val="E5E7EB"/>
            </a:solidFill>
            <a:prstDash val="solid"/>
          </a:ln>
        </p:spPr>
      </p:sp>
      <p:sp>
        <p:nvSpPr>
          <p:cNvPr id="34" name="Text 32"/>
          <p:cNvSpPr/>
          <p:nvPr/>
        </p:nvSpPr>
        <p:spPr>
          <a:xfrm>
            <a:off x="502920" y="3995928"/>
            <a:ext cx="3657600" cy="237744"/>
          </a:xfrm>
          <a:prstGeom prst="rect">
            <a:avLst/>
          </a:prstGeom>
          <a:noFill/>
          <a:ln/>
        </p:spPr>
        <p:txBody>
          <a:bodyPr wrap="square" lIns="0" tIns="0" rIns="0" bIns="0" rtlCol="0" anchor="ctr"/>
          <a:lstStyle/>
          <a:p>
            <a:pPr algn="l" indent="0" marL="0">
              <a:buNone/>
            </a:pPr>
            <a:r>
              <a:rPr lang="en-US" sz="1000" dirty="0">
                <a:solidFill>
                  <a:srgbClr val="A0A8B3"/>
                </a:solidFill>
                <a:latin typeface="Calibri" pitchFamily="34" charset="0"/>
                <a:ea typeface="Calibri" pitchFamily="34" charset="-122"/>
                <a:cs typeface="Calibri" pitchFamily="34" charset="-120"/>
              </a:rPr>
              <a:t>← Inline / Fast / Low context</a:t>
            </a:r>
            <a:endParaRPr lang="en-US" sz="1000" dirty="0"/>
          </a:p>
        </p:txBody>
      </p:sp>
      <p:sp>
        <p:nvSpPr>
          <p:cNvPr id="35" name="Text 33"/>
          <p:cNvSpPr/>
          <p:nvPr/>
        </p:nvSpPr>
        <p:spPr>
          <a:xfrm>
            <a:off x="4983480" y="3995928"/>
            <a:ext cx="3657600" cy="237744"/>
          </a:xfrm>
          <a:prstGeom prst="rect">
            <a:avLst/>
          </a:prstGeom>
          <a:noFill/>
          <a:ln/>
        </p:spPr>
        <p:txBody>
          <a:bodyPr wrap="square" lIns="0" tIns="0" rIns="0" bIns="0" rtlCol="0" anchor="ctr"/>
          <a:lstStyle/>
          <a:p>
            <a:pPr algn="r" indent="0" marL="0">
              <a:buNone/>
            </a:pPr>
            <a:r>
              <a:rPr lang="en-US" sz="1000" dirty="0">
                <a:solidFill>
                  <a:srgbClr val="A0A8B3"/>
                </a:solidFill>
                <a:latin typeface="Calibri" pitchFamily="34" charset="0"/>
                <a:ea typeface="Calibri" pitchFamily="34" charset="-122"/>
                <a:cs typeface="Calibri" pitchFamily="34" charset="-120"/>
              </a:rPr>
              <a:t>Deep / Planned / High context →</a:t>
            </a:r>
            <a:endParaRPr lang="en-US" sz="1000" dirty="0"/>
          </a:p>
        </p:txBody>
      </p:sp>
      <p:sp>
        <p:nvSpPr>
          <p:cNvPr id="36" name="Shape 34"/>
          <p:cNvSpPr/>
          <p:nvPr/>
        </p:nvSpPr>
        <p:spPr>
          <a:xfrm>
            <a:off x="987552" y="4242816"/>
            <a:ext cx="128016" cy="128016"/>
          </a:xfrm>
          <a:prstGeom prst="ellipse">
            <a:avLst/>
          </a:prstGeom>
          <a:solidFill>
            <a:srgbClr val="111111"/>
          </a:solidFill>
          <a:ln w="12700">
            <a:solidFill>
              <a:srgbClr val="111111"/>
            </a:solidFill>
            <a:prstDash val="solid"/>
          </a:ln>
        </p:spPr>
      </p:sp>
      <p:sp>
        <p:nvSpPr>
          <p:cNvPr id="37" name="Text 35"/>
          <p:cNvSpPr/>
          <p:nvPr/>
        </p:nvSpPr>
        <p:spPr>
          <a:xfrm>
            <a:off x="685800" y="4398264"/>
            <a:ext cx="822960"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Copilot</a:t>
            </a:r>
            <a:endParaRPr lang="en-US" sz="900" dirty="0"/>
          </a:p>
        </p:txBody>
      </p:sp>
      <p:sp>
        <p:nvSpPr>
          <p:cNvPr id="38" name="Shape 36"/>
          <p:cNvSpPr/>
          <p:nvPr/>
        </p:nvSpPr>
        <p:spPr>
          <a:xfrm>
            <a:off x="3090672" y="4242816"/>
            <a:ext cx="128016" cy="128016"/>
          </a:xfrm>
          <a:prstGeom prst="ellipse">
            <a:avLst/>
          </a:prstGeom>
          <a:solidFill>
            <a:srgbClr val="111111"/>
          </a:solidFill>
          <a:ln w="12700">
            <a:solidFill>
              <a:srgbClr val="111111"/>
            </a:solidFill>
            <a:prstDash val="solid"/>
          </a:ln>
        </p:spPr>
      </p:sp>
      <p:sp>
        <p:nvSpPr>
          <p:cNvPr id="39" name="Text 37"/>
          <p:cNvSpPr/>
          <p:nvPr/>
        </p:nvSpPr>
        <p:spPr>
          <a:xfrm>
            <a:off x="2788920" y="4398264"/>
            <a:ext cx="822960"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ChatGPT</a:t>
            </a:r>
            <a:endParaRPr lang="en-US" sz="900" dirty="0"/>
          </a:p>
        </p:txBody>
      </p:sp>
      <p:sp>
        <p:nvSpPr>
          <p:cNvPr id="40" name="Shape 38"/>
          <p:cNvSpPr/>
          <p:nvPr/>
        </p:nvSpPr>
        <p:spPr>
          <a:xfrm>
            <a:off x="5833872" y="4242816"/>
            <a:ext cx="128016" cy="128016"/>
          </a:xfrm>
          <a:prstGeom prst="ellipse">
            <a:avLst/>
          </a:prstGeom>
          <a:solidFill>
            <a:srgbClr val="111111"/>
          </a:solidFill>
          <a:ln w="12700">
            <a:solidFill>
              <a:srgbClr val="111111"/>
            </a:solidFill>
            <a:prstDash val="solid"/>
          </a:ln>
        </p:spPr>
      </p:sp>
      <p:sp>
        <p:nvSpPr>
          <p:cNvPr id="41" name="Text 39"/>
          <p:cNvSpPr/>
          <p:nvPr/>
        </p:nvSpPr>
        <p:spPr>
          <a:xfrm>
            <a:off x="5532120" y="4398264"/>
            <a:ext cx="822960"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Cursor</a:t>
            </a:r>
            <a:endParaRPr lang="en-US" sz="900" dirty="0"/>
          </a:p>
        </p:txBody>
      </p:sp>
      <p:sp>
        <p:nvSpPr>
          <p:cNvPr id="42" name="Shape 40"/>
          <p:cNvSpPr/>
          <p:nvPr/>
        </p:nvSpPr>
        <p:spPr>
          <a:xfrm>
            <a:off x="7845552" y="4242816"/>
            <a:ext cx="128016" cy="128016"/>
          </a:xfrm>
          <a:prstGeom prst="ellipse">
            <a:avLst/>
          </a:prstGeom>
          <a:solidFill>
            <a:srgbClr val="111111"/>
          </a:solidFill>
          <a:ln w="12700">
            <a:solidFill>
              <a:srgbClr val="111111"/>
            </a:solidFill>
            <a:prstDash val="solid"/>
          </a:ln>
        </p:spPr>
      </p:sp>
      <p:sp>
        <p:nvSpPr>
          <p:cNvPr id="43" name="Text 41"/>
          <p:cNvSpPr/>
          <p:nvPr/>
        </p:nvSpPr>
        <p:spPr>
          <a:xfrm>
            <a:off x="7543800" y="4398264"/>
            <a:ext cx="822960"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Claude</a:t>
            </a:r>
            <a:endParaRPr lang="en-US" sz="900" dirty="0"/>
          </a:p>
        </p:txBody>
      </p:sp>
      <p:sp>
        <p:nvSpPr>
          <p:cNvPr id="44" name="Text 42"/>
          <p:cNvSpPr/>
          <p:nvPr/>
        </p:nvSpPr>
        <p:spPr>
          <a:xfrm>
            <a:off x="502920" y="4636008"/>
            <a:ext cx="8138160" cy="219456"/>
          </a:xfrm>
          <a:prstGeom prst="rect">
            <a:avLst/>
          </a:prstGeom>
          <a:noFill/>
          <a:ln/>
        </p:spPr>
        <p:txBody>
          <a:bodyPr wrap="square" lIns="0" tIns="0" rIns="0" bIns="0" rtlCol="0" anchor="ctr"/>
          <a:lstStyle/>
          <a:p>
            <a:pPr algn="ctr" indent="0" marL="0">
              <a:buNone/>
            </a:pPr>
            <a:r>
              <a:rPr lang="en-US" sz="1000" i="1" dirty="0">
                <a:solidFill>
                  <a:srgbClr val="A0A8B3"/>
                </a:solidFill>
                <a:latin typeface="Calibri" pitchFamily="34" charset="0"/>
                <a:ea typeface="Calibri" pitchFamily="34" charset="-122"/>
                <a:cs typeface="Calibri" pitchFamily="34" charset="-120"/>
              </a:rPr>
              <a:t>“One instrument per task. Don’t drive staring at three screens simultaneously.”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5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GPS told someone to drive into a lake. They followed it.</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4462272" y="2313432"/>
            <a:ext cx="219456" cy="219456"/>
          </a:xfrm>
          <a:prstGeom prst="ellipse">
            <a:avLst/>
          </a:prstGeom>
          <a:solidFill>
            <a:srgbClr val="111111"/>
          </a:solidFill>
          <a:ln w="12700">
            <a:solidFill>
              <a:srgbClr val="111111"/>
            </a:solidFill>
            <a:prstDash val="solid"/>
          </a:ln>
        </p:spPr>
      </p:sp>
      <p:sp>
        <p:nvSpPr>
          <p:cNvPr id="6" name="Text 4"/>
          <p:cNvSpPr/>
          <p:nvPr/>
        </p:nvSpPr>
        <p:spPr>
          <a:xfrm>
            <a:off x="3749040" y="2075688"/>
            <a:ext cx="1645920" cy="256032"/>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Task received</a:t>
            </a:r>
            <a:endParaRPr lang="en-US" sz="1200" dirty="0"/>
          </a:p>
        </p:txBody>
      </p:sp>
      <p:sp>
        <p:nvSpPr>
          <p:cNvPr id="7" name="Shape 5"/>
          <p:cNvSpPr/>
          <p:nvPr/>
        </p:nvSpPr>
        <p:spPr>
          <a:xfrm>
            <a:off x="4572000" y="2423160"/>
            <a:ext cx="-2926080" cy="1645920"/>
          </a:xfrm>
          <a:prstGeom prst="line">
            <a:avLst/>
          </a:prstGeom>
          <a:noFill/>
          <a:ln w="15240">
            <a:solidFill>
              <a:srgbClr val="6B7280"/>
            </a:solidFill>
            <a:prstDash val="dash"/>
          </a:ln>
        </p:spPr>
      </p:sp>
      <p:sp>
        <p:nvSpPr>
          <p:cNvPr id="8" name="Shape 6"/>
          <p:cNvSpPr/>
          <p:nvPr/>
        </p:nvSpPr>
        <p:spPr>
          <a:xfrm>
            <a:off x="1536192" y="3959352"/>
            <a:ext cx="219456" cy="219456"/>
          </a:xfrm>
          <a:prstGeom prst="ellipse">
            <a:avLst/>
          </a:prstGeom>
          <a:solidFill>
            <a:srgbClr val="6B7280"/>
          </a:solidFill>
          <a:ln w="12700">
            <a:solidFill>
              <a:srgbClr val="6B7280"/>
            </a:solidFill>
            <a:prstDash val="solid"/>
          </a:ln>
        </p:spPr>
      </p:sp>
      <p:sp>
        <p:nvSpPr>
          <p:cNvPr id="9" name="Text 7"/>
          <p:cNvSpPr/>
          <p:nvPr/>
        </p:nvSpPr>
        <p:spPr>
          <a:xfrm>
            <a:off x="502920" y="4160520"/>
            <a:ext cx="2560320" cy="27432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PR rejected / prod bug</a:t>
            </a:r>
            <a:endParaRPr lang="en-US" sz="1200" dirty="0"/>
          </a:p>
        </p:txBody>
      </p:sp>
      <p:sp>
        <p:nvSpPr>
          <p:cNvPr id="10" name="Text 8"/>
          <p:cNvSpPr/>
          <p:nvPr/>
        </p:nvSpPr>
        <p:spPr>
          <a:xfrm>
            <a:off x="502920" y="4434840"/>
            <a:ext cx="1828800" cy="219456"/>
          </a:xfrm>
          <a:prstGeom prst="rect">
            <a:avLst/>
          </a:prstGeom>
          <a:noFill/>
          <a:ln/>
        </p:spPr>
        <p:txBody>
          <a:bodyPr wrap="square" lIns="0" tIns="0" rIns="0" bIns="0" rtlCol="0" anchor="ctr"/>
          <a:lstStyle/>
          <a:p>
            <a:pPr algn="l" indent="0" marL="0">
              <a:buNone/>
            </a:pPr>
            <a:r>
              <a:rPr lang="en-US" sz="1000" i="1" dirty="0">
                <a:solidFill>
                  <a:srgbClr val="A0A8B3"/>
                </a:solidFill>
                <a:latin typeface="Calibri" pitchFamily="34" charset="0"/>
                <a:ea typeface="Calibri" pitchFamily="34" charset="-122"/>
                <a:cs typeface="Calibri" pitchFamily="34" charset="-120"/>
              </a:rPr>
              <a:t>3 days</a:t>
            </a:r>
            <a:endParaRPr lang="en-US" sz="1000" dirty="0"/>
          </a:p>
        </p:txBody>
      </p:sp>
      <p:sp>
        <p:nvSpPr>
          <p:cNvPr id="11" name="Shape 9"/>
          <p:cNvSpPr/>
          <p:nvPr/>
        </p:nvSpPr>
        <p:spPr>
          <a:xfrm>
            <a:off x="4572000" y="2423160"/>
            <a:ext cx="2926080" cy="1645920"/>
          </a:xfrm>
          <a:prstGeom prst="line">
            <a:avLst/>
          </a:prstGeom>
          <a:noFill/>
          <a:ln w="22860">
            <a:solidFill>
              <a:srgbClr val="111111"/>
            </a:solidFill>
            <a:prstDash val="solid"/>
          </a:ln>
        </p:spPr>
      </p:sp>
      <p:sp>
        <p:nvSpPr>
          <p:cNvPr id="12" name="Shape 10"/>
          <p:cNvSpPr/>
          <p:nvPr/>
        </p:nvSpPr>
        <p:spPr>
          <a:xfrm>
            <a:off x="7388352" y="3959352"/>
            <a:ext cx="219456" cy="219456"/>
          </a:xfrm>
          <a:prstGeom prst="ellipse">
            <a:avLst/>
          </a:prstGeom>
          <a:solidFill>
            <a:srgbClr val="111111"/>
          </a:solidFill>
          <a:ln w="12700">
            <a:solidFill>
              <a:srgbClr val="111111"/>
            </a:solidFill>
            <a:prstDash val="solid"/>
          </a:ln>
        </p:spPr>
      </p:sp>
      <p:sp>
        <p:nvSpPr>
          <p:cNvPr id="13" name="Text 11"/>
          <p:cNvSpPr/>
          <p:nvPr/>
        </p:nvSpPr>
        <p:spPr>
          <a:xfrm>
            <a:off x="6675120" y="4160520"/>
            <a:ext cx="2103120" cy="274320"/>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Merged</a:t>
            </a:r>
            <a:endParaRPr lang="en-US" sz="1200" dirty="0"/>
          </a:p>
        </p:txBody>
      </p:sp>
      <p:sp>
        <p:nvSpPr>
          <p:cNvPr id="14" name="Text 12"/>
          <p:cNvSpPr/>
          <p:nvPr/>
        </p:nvSpPr>
        <p:spPr>
          <a:xfrm>
            <a:off x="6675120" y="4434840"/>
            <a:ext cx="1371600" cy="219456"/>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1 day</a:t>
            </a:r>
            <a:endParaRPr lang="en-US" sz="1000" dirty="0"/>
          </a:p>
        </p:txBody>
      </p:sp>
      <p:sp>
        <p:nvSpPr>
          <p:cNvPr id="15" name="Text 13"/>
          <p:cNvSpPr/>
          <p:nvPr/>
        </p:nvSpPr>
        <p:spPr>
          <a:xfrm>
            <a:off x="502920" y="1536192"/>
            <a:ext cx="3291840"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open AI tool →  generate →  commit</a:t>
            </a:r>
            <a:endParaRPr lang="en-US" sz="1200" dirty="0"/>
          </a:p>
        </p:txBody>
      </p:sp>
      <p:sp>
        <p:nvSpPr>
          <p:cNvPr id="16" name="Text 14"/>
          <p:cNvSpPr/>
          <p:nvPr/>
        </p:nvSpPr>
        <p:spPr>
          <a:xfrm>
            <a:off x="502920" y="1883664"/>
            <a:ext cx="3291840"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compiles? ship it.</a:t>
            </a:r>
            <a:endParaRPr lang="en-US" sz="1200" dirty="0"/>
          </a:p>
        </p:txBody>
      </p:sp>
      <p:sp>
        <p:nvSpPr>
          <p:cNvPr id="17" name="Text 15"/>
          <p:cNvSpPr/>
          <p:nvPr/>
        </p:nvSpPr>
        <p:spPr>
          <a:xfrm>
            <a:off x="502920" y="2231136"/>
            <a:ext cx="3291840"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PR fails  →  back to start</a:t>
            </a:r>
            <a:endParaRPr lang="en-US" sz="1200" dirty="0"/>
          </a:p>
        </p:txBody>
      </p:sp>
      <p:sp>
        <p:nvSpPr>
          <p:cNvPr id="18" name="Text 16"/>
          <p:cNvSpPr/>
          <p:nvPr/>
        </p:nvSpPr>
        <p:spPr>
          <a:xfrm>
            <a:off x="502920" y="1389888"/>
            <a:ext cx="1371600" cy="201168"/>
          </a:xfrm>
          <a:prstGeom prst="rect">
            <a:avLst/>
          </a:prstGeom>
          <a:noFill/>
          <a:ln/>
        </p:spPr>
        <p:txBody>
          <a:bodyPr wrap="square" lIns="0" tIns="0" rIns="0" bIns="0" rtlCol="0" anchor="ctr"/>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BLIND</a:t>
            </a:r>
            <a:endParaRPr lang="en-US" sz="900" dirty="0"/>
          </a:p>
        </p:txBody>
      </p:sp>
      <p:sp>
        <p:nvSpPr>
          <p:cNvPr id="19" name="Text 17"/>
          <p:cNvSpPr/>
          <p:nvPr/>
        </p:nvSpPr>
        <p:spPr>
          <a:xfrm>
            <a:off x="5394960" y="1536192"/>
            <a:ext cx="3474720" cy="31089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plan with Claude first</a:t>
            </a:r>
            <a:endParaRPr lang="en-US" sz="1200" dirty="0"/>
          </a:p>
        </p:txBody>
      </p:sp>
      <p:sp>
        <p:nvSpPr>
          <p:cNvPr id="20" name="Text 18"/>
          <p:cNvSpPr/>
          <p:nvPr/>
        </p:nvSpPr>
        <p:spPr>
          <a:xfrm>
            <a:off x="5394960" y="1883664"/>
            <a:ext cx="3474720" cy="31089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generate  →  read every line</a:t>
            </a:r>
            <a:endParaRPr lang="en-US" sz="1200" dirty="0"/>
          </a:p>
        </p:txBody>
      </p:sp>
      <p:sp>
        <p:nvSpPr>
          <p:cNvPr id="21" name="Text 19"/>
          <p:cNvSpPr/>
          <p:nvPr/>
        </p:nvSpPr>
        <p:spPr>
          <a:xfrm>
            <a:off x="5394960" y="2231136"/>
            <a:ext cx="3474720" cy="31089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"what did AI miss?"  →  test it</a:t>
            </a:r>
            <a:endParaRPr lang="en-US" sz="1200" dirty="0"/>
          </a:p>
        </p:txBody>
      </p:sp>
      <p:sp>
        <p:nvSpPr>
          <p:cNvPr id="22" name="Text 20"/>
          <p:cNvSpPr/>
          <p:nvPr/>
        </p:nvSpPr>
        <p:spPr>
          <a:xfrm>
            <a:off x="5394960" y="2578608"/>
            <a:ext cx="3474720" cy="310896"/>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commit what you can explain</a:t>
            </a:r>
            <a:endParaRPr lang="en-US" sz="1200" dirty="0"/>
          </a:p>
        </p:txBody>
      </p:sp>
      <p:sp>
        <p:nvSpPr>
          <p:cNvPr id="23" name="Text 21"/>
          <p:cNvSpPr/>
          <p:nvPr/>
        </p:nvSpPr>
        <p:spPr>
          <a:xfrm>
            <a:off x="5394960" y="1389888"/>
            <a:ext cx="1371600" cy="201168"/>
          </a:xfrm>
          <a:prstGeom prst="rect">
            <a:avLst/>
          </a:prstGeom>
          <a:noFill/>
          <a:ln/>
        </p:spPr>
        <p:txBody>
          <a:bodyPr wrap="square" lIns="0" tIns="0" rIns="0" bIns="0" rtlCol="0" anchor="ctr"/>
          <a:lstStyle/>
          <a:p>
            <a:pPr algn="l" indent="0" marL="0">
              <a:buNone/>
            </a:pPr>
            <a:r>
              <a:rPr lang="en-US" sz="900" b="1" spc="200" kern="0" dirty="0">
                <a:solidFill>
                  <a:srgbClr val="111111"/>
                </a:solidFill>
                <a:latin typeface="Calibri" pitchFamily="34" charset="0"/>
                <a:ea typeface="Calibri" pitchFamily="34" charset="-122"/>
                <a:cs typeface="Calibri" pitchFamily="34" charset="-120"/>
              </a:rPr>
              <a:t>SMART</a:t>
            </a:r>
            <a:endParaRPr lang="en-US" sz="900" dirty="0"/>
          </a:p>
        </p:txBody>
      </p:sp>
      <p:sp>
        <p:nvSpPr>
          <p:cNvPr id="24" name="Shape 22"/>
          <p:cNvSpPr/>
          <p:nvPr/>
        </p:nvSpPr>
        <p:spPr>
          <a:xfrm>
            <a:off x="0" y="4828032"/>
            <a:ext cx="9144000" cy="0"/>
          </a:xfrm>
          <a:prstGeom prst="line">
            <a:avLst/>
          </a:prstGeom>
          <a:noFill/>
          <a:ln w="3810">
            <a:solidFill>
              <a:srgbClr val="E5E7EB"/>
            </a:solidFill>
            <a:prstDash val="solid"/>
          </a:ln>
        </p:spPr>
      </p:sp>
      <p:sp>
        <p:nvSpPr>
          <p:cNvPr id="25" name="Text 23"/>
          <p:cNvSpPr/>
          <p:nvPr/>
        </p:nvSpPr>
        <p:spPr>
          <a:xfrm>
            <a:off x="502920" y="4846320"/>
            <a:ext cx="8138160" cy="219456"/>
          </a:xfrm>
          <a:prstGeom prst="rect">
            <a:avLst/>
          </a:prstGeom>
          <a:noFill/>
          <a:ln/>
        </p:spPr>
        <p:txBody>
          <a:bodyPr wrap="square" lIns="0" tIns="0" rIns="0" bIns="0" rtlCol="0" anchor="ctr"/>
          <a:lstStyle/>
          <a:p>
            <a:pPr algn="ctr" indent="0" marL="0">
              <a:buNone/>
            </a:pPr>
            <a:r>
              <a:rPr lang="en-US" sz="1200" i="1" dirty="0">
                <a:solidFill>
                  <a:srgbClr val="A0A8B3"/>
                </a:solidFill>
                <a:latin typeface="Calibri" pitchFamily="34" charset="0"/>
                <a:ea typeface="Calibri" pitchFamily="34" charset="-122"/>
                <a:cs typeface="Calibri" pitchFamily="34" charset="-120"/>
              </a:rPr>
              <a:t>“Same AI. Same codebase. One day versus three.”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6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You don’t drive without setting the destination first.</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228600" y="1417320"/>
            <a:ext cx="1078992" cy="685800"/>
          </a:xfrm>
          <a:prstGeom prst="rect">
            <a:avLst/>
          </a:prstGeom>
          <a:solidFill>
            <a:srgbClr val="111111"/>
          </a:solidFill>
          <a:ln w="6350">
            <a:solidFill>
              <a:srgbClr val="111111"/>
            </a:solidFill>
            <a:prstDash val="solid"/>
          </a:ln>
        </p:spPr>
      </p:sp>
      <p:sp>
        <p:nvSpPr>
          <p:cNvPr id="6" name="Text 4"/>
          <p:cNvSpPr/>
          <p:nvPr/>
        </p:nvSpPr>
        <p:spPr>
          <a:xfrm>
            <a:off x="228600" y="1472184"/>
            <a:ext cx="1078992" cy="4846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a:t>
            </a:r>
            <a:endParaRPr lang="en-US" sz="1000" dirty="0"/>
          </a:p>
        </p:txBody>
      </p:sp>
      <p:sp>
        <p:nvSpPr>
          <p:cNvPr id="7" name="Text 5"/>
          <p:cNvSpPr/>
          <p:nvPr/>
        </p:nvSpPr>
        <p:spPr>
          <a:xfrm>
            <a:off x="228600" y="1901952"/>
            <a:ext cx="1078992" cy="201168"/>
          </a:xfrm>
          <a:prstGeom prst="rect">
            <a:avLst/>
          </a:prstGeom>
          <a:noFill/>
          <a:ln/>
        </p:spPr>
        <p:txBody>
          <a:bodyPr wrap="square" lIns="0" tIns="0" rIns="0" bIns="0" rtlCol="0" anchor="ctr"/>
          <a:lstStyle/>
          <a:p>
            <a:pPr algn="ctr" indent="0" marL="0">
              <a:buNone/>
            </a:pPr>
            <a:r>
              <a:rPr lang="en-US" sz="800" dirty="0">
                <a:solidFill>
                  <a:srgbClr val="999999"/>
                </a:solidFill>
                <a:latin typeface="Calibri" pitchFamily="34" charset="0"/>
                <a:ea typeface="Calibri" pitchFamily="34" charset="-122"/>
                <a:cs typeface="Calibri" pitchFamily="34" charset="-120"/>
              </a:rPr>
              <a:t>Claude</a:t>
            </a:r>
            <a:endParaRPr lang="en-US" sz="800" dirty="0"/>
          </a:p>
        </p:txBody>
      </p:sp>
      <p:sp>
        <p:nvSpPr>
          <p:cNvPr id="8" name="Shape 6"/>
          <p:cNvSpPr/>
          <p:nvPr/>
        </p:nvSpPr>
        <p:spPr>
          <a:xfrm>
            <a:off x="1316736" y="1760220"/>
            <a:ext cx="64008" cy="0"/>
          </a:xfrm>
          <a:prstGeom prst="line">
            <a:avLst/>
          </a:prstGeom>
          <a:noFill/>
          <a:ln w="12700">
            <a:solidFill>
              <a:srgbClr val="D1D5DB"/>
            </a:solidFill>
            <a:prstDash val="solid"/>
          </a:ln>
        </p:spPr>
      </p:sp>
      <p:sp>
        <p:nvSpPr>
          <p:cNvPr id="9" name="Shape 7"/>
          <p:cNvSpPr/>
          <p:nvPr/>
        </p:nvSpPr>
        <p:spPr>
          <a:xfrm>
            <a:off x="1380744" y="1417320"/>
            <a:ext cx="1078992" cy="685800"/>
          </a:xfrm>
          <a:prstGeom prst="rect">
            <a:avLst/>
          </a:prstGeom>
          <a:solidFill>
            <a:srgbClr val="111111"/>
          </a:solidFill>
          <a:ln w="6350">
            <a:solidFill>
              <a:srgbClr val="111111"/>
            </a:solidFill>
            <a:prstDash val="solid"/>
          </a:ln>
        </p:spPr>
      </p:sp>
      <p:sp>
        <p:nvSpPr>
          <p:cNvPr id="10" name="Text 8"/>
          <p:cNvSpPr/>
          <p:nvPr/>
        </p:nvSpPr>
        <p:spPr>
          <a:xfrm>
            <a:off x="1380744" y="1472184"/>
            <a:ext cx="1078992" cy="4846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VALIDATE</a:t>
            </a:r>
            <a:endParaRPr lang="en-US" sz="1000" dirty="0"/>
          </a:p>
        </p:txBody>
      </p:sp>
      <p:sp>
        <p:nvSpPr>
          <p:cNvPr id="11" name="Text 9"/>
          <p:cNvSpPr/>
          <p:nvPr/>
        </p:nvSpPr>
        <p:spPr>
          <a:xfrm>
            <a:off x="1380744" y="1901952"/>
            <a:ext cx="1078992" cy="201168"/>
          </a:xfrm>
          <a:prstGeom prst="rect">
            <a:avLst/>
          </a:prstGeom>
          <a:noFill/>
          <a:ln/>
        </p:spPr>
        <p:txBody>
          <a:bodyPr wrap="square" lIns="0" tIns="0" rIns="0" bIns="0" rtlCol="0" anchor="ctr"/>
          <a:lstStyle/>
          <a:p>
            <a:pPr algn="ctr" indent="0" marL="0">
              <a:buNone/>
            </a:pPr>
            <a:r>
              <a:rPr lang="en-US" sz="800" dirty="0">
                <a:solidFill>
                  <a:srgbClr val="999999"/>
                </a:solidFill>
                <a:latin typeface="Calibri" pitchFamily="34" charset="0"/>
                <a:ea typeface="Calibri" pitchFamily="34" charset="-122"/>
                <a:cs typeface="Calibri" pitchFamily="34" charset="-120"/>
              </a:rPr>
              <a:t>You</a:t>
            </a:r>
            <a:endParaRPr lang="en-US" sz="800" dirty="0"/>
          </a:p>
        </p:txBody>
      </p:sp>
      <p:sp>
        <p:nvSpPr>
          <p:cNvPr id="12" name="Shape 10"/>
          <p:cNvSpPr/>
          <p:nvPr/>
        </p:nvSpPr>
        <p:spPr>
          <a:xfrm>
            <a:off x="2468880" y="1760220"/>
            <a:ext cx="64008" cy="0"/>
          </a:xfrm>
          <a:prstGeom prst="line">
            <a:avLst/>
          </a:prstGeom>
          <a:noFill/>
          <a:ln w="12700">
            <a:solidFill>
              <a:srgbClr val="D1D5DB"/>
            </a:solidFill>
            <a:prstDash val="solid"/>
          </a:ln>
        </p:spPr>
      </p:sp>
      <p:sp>
        <p:nvSpPr>
          <p:cNvPr id="13" name="Shape 11"/>
          <p:cNvSpPr/>
          <p:nvPr/>
        </p:nvSpPr>
        <p:spPr>
          <a:xfrm>
            <a:off x="2532888" y="1417320"/>
            <a:ext cx="1078992" cy="685800"/>
          </a:xfrm>
          <a:prstGeom prst="rect">
            <a:avLst/>
          </a:prstGeom>
          <a:solidFill>
            <a:srgbClr val="F3F4F6"/>
          </a:solidFill>
          <a:ln w="6350">
            <a:solidFill>
              <a:srgbClr val="D1D5DB"/>
            </a:solidFill>
            <a:prstDash val="solid"/>
          </a:ln>
        </p:spPr>
      </p:sp>
      <p:sp>
        <p:nvSpPr>
          <p:cNvPr id="14" name="Text 12"/>
          <p:cNvSpPr/>
          <p:nvPr/>
        </p:nvSpPr>
        <p:spPr>
          <a:xfrm>
            <a:off x="2532888" y="1472184"/>
            <a:ext cx="1078992" cy="484632"/>
          </a:xfrm>
          <a:prstGeom prst="rect">
            <a:avLst/>
          </a:prstGeom>
          <a:noFill/>
          <a:ln/>
        </p:spPr>
        <p:txBody>
          <a:bodyPr wrap="square" lIns="0" tIns="0" rIns="0" bIns="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BUILD</a:t>
            </a:r>
            <a:endParaRPr lang="en-US" sz="1000" dirty="0"/>
          </a:p>
        </p:txBody>
      </p:sp>
      <p:sp>
        <p:nvSpPr>
          <p:cNvPr id="15" name="Text 13"/>
          <p:cNvSpPr/>
          <p:nvPr/>
        </p:nvSpPr>
        <p:spPr>
          <a:xfrm>
            <a:off x="2532888" y="1901952"/>
            <a:ext cx="1078992" cy="201168"/>
          </a:xfrm>
          <a:prstGeom prst="rect">
            <a:avLst/>
          </a:prstGeom>
          <a:noFill/>
          <a:ln/>
        </p:spPr>
        <p:txBody>
          <a:bodyPr wrap="square" lIns="0" tIns="0" rIns="0" bIns="0" rtlCol="0" anchor="ctr"/>
          <a:lstStyle/>
          <a:p>
            <a:pPr algn="ctr" indent="0" marL="0">
              <a:buNone/>
            </a:pPr>
            <a:r>
              <a:rPr lang="en-US" sz="800" dirty="0">
                <a:solidFill>
                  <a:srgbClr val="A0A8B3"/>
                </a:solidFill>
                <a:latin typeface="Calibri" pitchFamily="34" charset="0"/>
                <a:ea typeface="Calibri" pitchFamily="34" charset="-122"/>
                <a:cs typeface="Calibri" pitchFamily="34" charset="-120"/>
              </a:rPr>
              <a:t>Cursor / Copilot</a:t>
            </a:r>
            <a:endParaRPr lang="en-US" sz="800" dirty="0"/>
          </a:p>
        </p:txBody>
      </p:sp>
      <p:sp>
        <p:nvSpPr>
          <p:cNvPr id="16" name="Shape 14"/>
          <p:cNvSpPr/>
          <p:nvPr/>
        </p:nvSpPr>
        <p:spPr>
          <a:xfrm>
            <a:off x="3621024" y="1760220"/>
            <a:ext cx="64008" cy="0"/>
          </a:xfrm>
          <a:prstGeom prst="line">
            <a:avLst/>
          </a:prstGeom>
          <a:noFill/>
          <a:ln w="12700">
            <a:solidFill>
              <a:srgbClr val="D1D5DB"/>
            </a:solidFill>
            <a:prstDash val="solid"/>
          </a:ln>
        </p:spPr>
      </p:sp>
      <p:sp>
        <p:nvSpPr>
          <p:cNvPr id="17" name="Shape 15"/>
          <p:cNvSpPr/>
          <p:nvPr/>
        </p:nvSpPr>
        <p:spPr>
          <a:xfrm>
            <a:off x="3685032" y="1417320"/>
            <a:ext cx="1078992" cy="685800"/>
          </a:xfrm>
          <a:prstGeom prst="rect">
            <a:avLst/>
          </a:prstGeom>
          <a:solidFill>
            <a:srgbClr val="F3F4F6"/>
          </a:solidFill>
          <a:ln w="6350">
            <a:solidFill>
              <a:srgbClr val="D1D5DB"/>
            </a:solidFill>
            <a:prstDash val="solid"/>
          </a:ln>
        </p:spPr>
      </p:sp>
      <p:sp>
        <p:nvSpPr>
          <p:cNvPr id="18" name="Text 16"/>
          <p:cNvSpPr/>
          <p:nvPr/>
        </p:nvSpPr>
        <p:spPr>
          <a:xfrm>
            <a:off x="3685032" y="1472184"/>
            <a:ext cx="1078992" cy="484632"/>
          </a:xfrm>
          <a:prstGeom prst="rect">
            <a:avLst/>
          </a:prstGeom>
          <a:noFill/>
          <a:ln/>
        </p:spPr>
        <p:txBody>
          <a:bodyPr wrap="square" lIns="0" tIns="0" rIns="0" bIns="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AI CHECK</a:t>
            </a:r>
            <a:endParaRPr lang="en-US" sz="1000" dirty="0"/>
          </a:p>
        </p:txBody>
      </p:sp>
      <p:sp>
        <p:nvSpPr>
          <p:cNvPr id="19" name="Text 17"/>
          <p:cNvSpPr/>
          <p:nvPr/>
        </p:nvSpPr>
        <p:spPr>
          <a:xfrm>
            <a:off x="3685032" y="1901952"/>
            <a:ext cx="1078992" cy="201168"/>
          </a:xfrm>
          <a:prstGeom prst="rect">
            <a:avLst/>
          </a:prstGeom>
          <a:noFill/>
          <a:ln/>
        </p:spPr>
        <p:txBody>
          <a:bodyPr wrap="square" lIns="0" tIns="0" rIns="0" bIns="0" rtlCol="0" anchor="ctr"/>
          <a:lstStyle/>
          <a:p>
            <a:pPr algn="ctr" indent="0" marL="0">
              <a:buNone/>
            </a:pPr>
            <a:r>
              <a:rPr lang="en-US" sz="800" dirty="0">
                <a:solidFill>
                  <a:srgbClr val="A0A8B3"/>
                </a:solidFill>
                <a:latin typeface="Calibri" pitchFamily="34" charset="0"/>
                <a:ea typeface="Calibri" pitchFamily="34" charset="-122"/>
                <a:cs typeface="Calibri" pitchFamily="34" charset="-120"/>
              </a:rPr>
              <a:t>Claude / Copilot</a:t>
            </a:r>
            <a:endParaRPr lang="en-US" sz="800" dirty="0"/>
          </a:p>
        </p:txBody>
      </p:sp>
      <p:sp>
        <p:nvSpPr>
          <p:cNvPr id="20" name="Shape 18"/>
          <p:cNvSpPr/>
          <p:nvPr/>
        </p:nvSpPr>
        <p:spPr>
          <a:xfrm>
            <a:off x="4773168" y="1760220"/>
            <a:ext cx="64008" cy="0"/>
          </a:xfrm>
          <a:prstGeom prst="line">
            <a:avLst/>
          </a:prstGeom>
          <a:noFill/>
          <a:ln w="12700">
            <a:solidFill>
              <a:srgbClr val="D1D5DB"/>
            </a:solidFill>
            <a:prstDash val="solid"/>
          </a:ln>
        </p:spPr>
      </p:sp>
      <p:sp>
        <p:nvSpPr>
          <p:cNvPr id="21" name="Shape 19"/>
          <p:cNvSpPr/>
          <p:nvPr/>
        </p:nvSpPr>
        <p:spPr>
          <a:xfrm>
            <a:off x="4837176" y="1417320"/>
            <a:ext cx="1078992" cy="685800"/>
          </a:xfrm>
          <a:prstGeom prst="rect">
            <a:avLst/>
          </a:prstGeom>
          <a:solidFill>
            <a:srgbClr val="111111"/>
          </a:solidFill>
          <a:ln w="6350">
            <a:solidFill>
              <a:srgbClr val="111111"/>
            </a:solidFill>
            <a:prstDash val="solid"/>
          </a:ln>
        </p:spPr>
      </p:sp>
      <p:sp>
        <p:nvSpPr>
          <p:cNvPr id="22" name="Text 20"/>
          <p:cNvSpPr/>
          <p:nvPr/>
        </p:nvSpPr>
        <p:spPr>
          <a:xfrm>
            <a:off x="4837176" y="1472184"/>
            <a:ext cx="1078992" cy="4846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HUMAN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REVIEW</a:t>
            </a:r>
            <a:endParaRPr lang="en-US" sz="1000" dirty="0"/>
          </a:p>
        </p:txBody>
      </p:sp>
      <p:sp>
        <p:nvSpPr>
          <p:cNvPr id="23" name="Text 21"/>
          <p:cNvSpPr/>
          <p:nvPr/>
        </p:nvSpPr>
        <p:spPr>
          <a:xfrm>
            <a:off x="4837176" y="1901952"/>
            <a:ext cx="1078992" cy="201168"/>
          </a:xfrm>
          <a:prstGeom prst="rect">
            <a:avLst/>
          </a:prstGeom>
          <a:noFill/>
          <a:ln/>
        </p:spPr>
        <p:txBody>
          <a:bodyPr wrap="square" lIns="0" tIns="0" rIns="0" bIns="0" rtlCol="0" anchor="ctr"/>
          <a:lstStyle/>
          <a:p>
            <a:pPr algn="ctr" indent="0" marL="0">
              <a:buNone/>
            </a:pPr>
            <a:r>
              <a:rPr lang="en-US" sz="800" dirty="0">
                <a:solidFill>
                  <a:srgbClr val="999999"/>
                </a:solidFill>
                <a:latin typeface="Calibri" pitchFamily="34" charset="0"/>
                <a:ea typeface="Calibri" pitchFamily="34" charset="-122"/>
                <a:cs typeface="Calibri" pitchFamily="34" charset="-120"/>
              </a:rPr>
              <a:t>Peer / Lead</a:t>
            </a:r>
            <a:endParaRPr lang="en-US" sz="800" dirty="0"/>
          </a:p>
        </p:txBody>
      </p:sp>
      <p:sp>
        <p:nvSpPr>
          <p:cNvPr id="24" name="Shape 22"/>
          <p:cNvSpPr/>
          <p:nvPr/>
        </p:nvSpPr>
        <p:spPr>
          <a:xfrm>
            <a:off x="5925312" y="1760220"/>
            <a:ext cx="64008" cy="0"/>
          </a:xfrm>
          <a:prstGeom prst="line">
            <a:avLst/>
          </a:prstGeom>
          <a:noFill/>
          <a:ln w="12700">
            <a:solidFill>
              <a:srgbClr val="D1D5DB"/>
            </a:solidFill>
            <a:prstDash val="solid"/>
          </a:ln>
        </p:spPr>
      </p:sp>
      <p:sp>
        <p:nvSpPr>
          <p:cNvPr id="25" name="Shape 23"/>
          <p:cNvSpPr/>
          <p:nvPr/>
        </p:nvSpPr>
        <p:spPr>
          <a:xfrm>
            <a:off x="5989320" y="1417320"/>
            <a:ext cx="1078992" cy="685800"/>
          </a:xfrm>
          <a:prstGeom prst="rect">
            <a:avLst/>
          </a:prstGeom>
          <a:solidFill>
            <a:srgbClr val="111111"/>
          </a:solidFill>
          <a:ln w="6350">
            <a:solidFill>
              <a:srgbClr val="111111"/>
            </a:solidFill>
            <a:prstDash val="solid"/>
          </a:ln>
        </p:spPr>
      </p:sp>
      <p:sp>
        <p:nvSpPr>
          <p:cNvPr id="26" name="Text 24"/>
          <p:cNvSpPr/>
          <p:nvPr/>
        </p:nvSpPr>
        <p:spPr>
          <a:xfrm>
            <a:off x="5989320" y="1472184"/>
            <a:ext cx="1078992" cy="4846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p>
        </p:txBody>
      </p:sp>
      <p:sp>
        <p:nvSpPr>
          <p:cNvPr id="27" name="Text 25"/>
          <p:cNvSpPr/>
          <p:nvPr/>
        </p:nvSpPr>
        <p:spPr>
          <a:xfrm>
            <a:off x="5989320" y="1901952"/>
            <a:ext cx="1078992" cy="201168"/>
          </a:xfrm>
          <a:prstGeom prst="rect">
            <a:avLst/>
          </a:prstGeom>
          <a:noFill/>
          <a:ln/>
        </p:spPr>
        <p:txBody>
          <a:bodyPr wrap="square" lIns="0" tIns="0" rIns="0" bIns="0" rtlCol="0" anchor="ctr"/>
          <a:lstStyle/>
          <a:p>
            <a:pPr algn="ctr" indent="0" marL="0">
              <a:buNone/>
            </a:pPr>
            <a:r>
              <a:rPr lang="en-US" sz="800" dirty="0">
                <a:solidFill>
                  <a:srgbClr val="999999"/>
                </a:solidFill>
                <a:latin typeface="Calibri" pitchFamily="34" charset="0"/>
                <a:ea typeface="Calibri" pitchFamily="34" charset="-122"/>
                <a:cs typeface="Calibri" pitchFamily="34" charset="-120"/>
              </a:rPr>
              <a:t>All</a:t>
            </a:r>
            <a:endParaRPr lang="en-US" sz="800" dirty="0"/>
          </a:p>
        </p:txBody>
      </p:sp>
      <p:sp>
        <p:nvSpPr>
          <p:cNvPr id="28" name="Shape 26"/>
          <p:cNvSpPr/>
          <p:nvPr/>
        </p:nvSpPr>
        <p:spPr>
          <a:xfrm>
            <a:off x="7077456" y="1760220"/>
            <a:ext cx="64008" cy="0"/>
          </a:xfrm>
          <a:prstGeom prst="line">
            <a:avLst/>
          </a:prstGeom>
          <a:noFill/>
          <a:ln w="12700">
            <a:solidFill>
              <a:srgbClr val="D1D5DB"/>
            </a:solidFill>
            <a:prstDash val="solid"/>
          </a:ln>
        </p:spPr>
      </p:sp>
      <p:sp>
        <p:nvSpPr>
          <p:cNvPr id="29" name="Shape 27"/>
          <p:cNvSpPr/>
          <p:nvPr/>
        </p:nvSpPr>
        <p:spPr>
          <a:xfrm>
            <a:off x="7141464" y="1417320"/>
            <a:ext cx="1078992" cy="685800"/>
          </a:xfrm>
          <a:prstGeom prst="rect">
            <a:avLst/>
          </a:prstGeom>
          <a:solidFill>
            <a:srgbClr val="111111"/>
          </a:solidFill>
          <a:ln w="6350">
            <a:solidFill>
              <a:srgbClr val="111111"/>
            </a:solidFill>
            <a:prstDash val="solid"/>
          </a:ln>
        </p:spPr>
      </p:sp>
      <p:sp>
        <p:nvSpPr>
          <p:cNvPr id="30" name="Text 28"/>
          <p:cNvSpPr/>
          <p:nvPr/>
        </p:nvSpPr>
        <p:spPr>
          <a:xfrm>
            <a:off x="7141464" y="1472184"/>
            <a:ext cx="1078992" cy="4846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MERGE</a:t>
            </a:r>
            <a:endParaRPr lang="en-US" sz="1000" dirty="0"/>
          </a:p>
        </p:txBody>
      </p:sp>
      <p:sp>
        <p:nvSpPr>
          <p:cNvPr id="31" name="Text 29"/>
          <p:cNvSpPr/>
          <p:nvPr/>
        </p:nvSpPr>
        <p:spPr>
          <a:xfrm>
            <a:off x="7141464" y="1901952"/>
            <a:ext cx="1078992" cy="201168"/>
          </a:xfrm>
          <a:prstGeom prst="rect">
            <a:avLst/>
          </a:prstGeom>
          <a:noFill/>
          <a:ln/>
        </p:spPr>
        <p:txBody>
          <a:bodyPr wrap="square" lIns="0" tIns="0" rIns="0" bIns="0" rtlCol="0" anchor="ctr"/>
          <a:lstStyle/>
          <a:p>
            <a:pPr algn="ctr" indent="0" marL="0">
              <a:buNone/>
            </a:pPr>
            <a:r>
              <a:rPr lang="en-US" sz="800" dirty="0">
                <a:solidFill>
                  <a:srgbClr val="999999"/>
                </a:solidFill>
                <a:latin typeface="Calibri" pitchFamily="34" charset="0"/>
                <a:ea typeface="Calibri" pitchFamily="34" charset="-122"/>
                <a:cs typeface="Calibri" pitchFamily="34" charset="-120"/>
              </a:rPr>
              <a:t>Lead</a:t>
            </a:r>
            <a:endParaRPr lang="en-US" sz="800" dirty="0"/>
          </a:p>
        </p:txBody>
      </p:sp>
      <p:sp>
        <p:nvSpPr>
          <p:cNvPr id="32" name="Text 30"/>
          <p:cNvSpPr/>
          <p:nvPr/>
        </p:nvSpPr>
        <p:spPr>
          <a:xfrm>
            <a:off x="228600" y="2249424"/>
            <a:ext cx="1828800" cy="228600"/>
          </a:xfrm>
          <a:prstGeom prst="rect">
            <a:avLst/>
          </a:prstGeom>
          <a:noFill/>
          <a:ln/>
        </p:spPr>
        <p:txBody>
          <a:bodyPr wrap="square" lIns="0" tIns="0" rIns="0" bIns="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 Non-negotiable</a:t>
            </a:r>
            <a:endParaRPr lang="en-US" sz="900" dirty="0"/>
          </a:p>
        </p:txBody>
      </p:sp>
      <p:sp>
        <p:nvSpPr>
          <p:cNvPr id="33" name="Text 31"/>
          <p:cNvSpPr/>
          <p:nvPr/>
        </p:nvSpPr>
        <p:spPr>
          <a:xfrm>
            <a:off x="2286000" y="2249424"/>
            <a:ext cx="1828800" cy="22860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 Recommended</a:t>
            </a:r>
            <a:endParaRPr lang="en-US" sz="900" dirty="0"/>
          </a:p>
        </p:txBody>
      </p:sp>
      <p:sp>
        <p:nvSpPr>
          <p:cNvPr id="34" name="Shape 32"/>
          <p:cNvSpPr/>
          <p:nvPr/>
        </p:nvSpPr>
        <p:spPr>
          <a:xfrm>
            <a:off x="228600" y="2578608"/>
            <a:ext cx="8686800" cy="0"/>
          </a:xfrm>
          <a:prstGeom prst="line">
            <a:avLst/>
          </a:prstGeom>
          <a:noFill/>
          <a:ln w="6350">
            <a:solidFill>
              <a:srgbClr val="E5E7EB"/>
            </a:solidFill>
            <a:prstDash val="solid"/>
          </a:ln>
        </p:spPr>
      </p:sp>
      <p:sp>
        <p:nvSpPr>
          <p:cNvPr id="35" name="Shape 33"/>
          <p:cNvSpPr/>
          <p:nvPr/>
        </p:nvSpPr>
        <p:spPr>
          <a:xfrm>
            <a:off x="228600" y="2651760"/>
            <a:ext cx="8686800" cy="310896"/>
          </a:xfrm>
          <a:prstGeom prst="rect">
            <a:avLst/>
          </a:prstGeom>
          <a:solidFill>
            <a:srgbClr val="FFFFFF"/>
          </a:solidFill>
          <a:ln w="6350">
            <a:solidFill>
              <a:srgbClr val="E5E7EB"/>
            </a:solidFill>
            <a:prstDash val="solid"/>
          </a:ln>
        </p:spPr>
      </p:sp>
      <p:sp>
        <p:nvSpPr>
          <p:cNvPr id="36" name="Text 34"/>
          <p:cNvSpPr/>
          <p:nvPr/>
        </p:nvSpPr>
        <p:spPr>
          <a:xfrm>
            <a:off x="301752" y="2688336"/>
            <a:ext cx="1188720" cy="237744"/>
          </a:xfrm>
          <a:prstGeom prst="rect">
            <a:avLst/>
          </a:prstGeom>
          <a:noFill/>
          <a:ln/>
        </p:spPr>
        <p:txBody>
          <a:bodyPr wrap="square" lIns="0" tIns="0" rIns="0" bIns="0" rtlCol="0" anchor="ctr"/>
          <a:lstStyle/>
          <a:p>
            <a:pPr algn="l" indent="0" marL="0">
              <a:buNone/>
            </a:pPr>
            <a:r>
              <a:rPr lang="en-US" sz="900" b="1" dirty="0">
                <a:solidFill>
                  <a:srgbClr val="111111"/>
                </a:solidFill>
                <a:latin typeface="Calibri" pitchFamily="34" charset="0"/>
                <a:ea typeface="Calibri" pitchFamily="34" charset="-122"/>
                <a:cs typeface="Calibri" pitchFamily="34" charset="-120"/>
              </a:rPr>
              <a:t>PLAN</a:t>
            </a:r>
            <a:endParaRPr lang="en-US" sz="900" dirty="0"/>
          </a:p>
        </p:txBody>
      </p:sp>
      <p:sp>
        <p:nvSpPr>
          <p:cNvPr id="37" name="Text 35"/>
          <p:cNvSpPr/>
          <p:nvPr/>
        </p:nvSpPr>
        <p:spPr>
          <a:xfrm>
            <a:off x="1581912" y="2688336"/>
            <a:ext cx="146304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Claude</a:t>
            </a:r>
            <a:endParaRPr lang="en-US" sz="900" dirty="0"/>
          </a:p>
        </p:txBody>
      </p:sp>
      <p:sp>
        <p:nvSpPr>
          <p:cNvPr id="38" name="Text 36"/>
          <p:cNvSpPr/>
          <p:nvPr/>
        </p:nvSpPr>
        <p:spPr>
          <a:xfrm>
            <a:off x="3136392" y="2688336"/>
            <a:ext cx="576072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Break down task, identify edge cases, confirm approach</a:t>
            </a:r>
            <a:endParaRPr lang="en-US" sz="900" dirty="0"/>
          </a:p>
        </p:txBody>
      </p:sp>
      <p:sp>
        <p:nvSpPr>
          <p:cNvPr id="39" name="Shape 37"/>
          <p:cNvSpPr/>
          <p:nvPr/>
        </p:nvSpPr>
        <p:spPr>
          <a:xfrm>
            <a:off x="228600" y="2962656"/>
            <a:ext cx="8686800" cy="310896"/>
          </a:xfrm>
          <a:prstGeom prst="rect">
            <a:avLst/>
          </a:prstGeom>
          <a:solidFill>
            <a:srgbClr val="F3F4F6"/>
          </a:solidFill>
          <a:ln w="6350">
            <a:solidFill>
              <a:srgbClr val="E5E7EB"/>
            </a:solidFill>
            <a:prstDash val="solid"/>
          </a:ln>
        </p:spPr>
      </p:sp>
      <p:sp>
        <p:nvSpPr>
          <p:cNvPr id="40" name="Text 38"/>
          <p:cNvSpPr/>
          <p:nvPr/>
        </p:nvSpPr>
        <p:spPr>
          <a:xfrm>
            <a:off x="301752" y="2999232"/>
            <a:ext cx="1188720" cy="237744"/>
          </a:xfrm>
          <a:prstGeom prst="rect">
            <a:avLst/>
          </a:prstGeom>
          <a:noFill/>
          <a:ln/>
        </p:spPr>
        <p:txBody>
          <a:bodyPr wrap="square" lIns="0" tIns="0" rIns="0" bIns="0" rtlCol="0" anchor="ctr"/>
          <a:lstStyle/>
          <a:p>
            <a:pPr algn="l" indent="0" marL="0">
              <a:buNone/>
            </a:pPr>
            <a:r>
              <a:rPr lang="en-US" sz="900" b="1" dirty="0">
                <a:solidFill>
                  <a:srgbClr val="111111"/>
                </a:solidFill>
                <a:latin typeface="Calibri" pitchFamily="34" charset="0"/>
                <a:ea typeface="Calibri" pitchFamily="34" charset="-122"/>
                <a:cs typeface="Calibri" pitchFamily="34" charset="-120"/>
              </a:rPr>
              <a:t>VALIDATE</a:t>
            </a:r>
            <a:endParaRPr lang="en-US" sz="900" dirty="0"/>
          </a:p>
        </p:txBody>
      </p:sp>
      <p:sp>
        <p:nvSpPr>
          <p:cNvPr id="41" name="Text 39"/>
          <p:cNvSpPr/>
          <p:nvPr/>
        </p:nvSpPr>
        <p:spPr>
          <a:xfrm>
            <a:off x="1581912" y="2999232"/>
            <a:ext cx="146304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You</a:t>
            </a:r>
            <a:endParaRPr lang="en-US" sz="900" dirty="0"/>
          </a:p>
        </p:txBody>
      </p:sp>
      <p:sp>
        <p:nvSpPr>
          <p:cNvPr id="42" name="Text 40"/>
          <p:cNvSpPr/>
          <p:nvPr/>
        </p:nvSpPr>
        <p:spPr>
          <a:xfrm>
            <a:off x="3136392" y="2999232"/>
            <a:ext cx="576072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Confirm plan is correct before a line is written</a:t>
            </a:r>
            <a:endParaRPr lang="en-US" sz="900" dirty="0"/>
          </a:p>
        </p:txBody>
      </p:sp>
      <p:sp>
        <p:nvSpPr>
          <p:cNvPr id="43" name="Shape 41"/>
          <p:cNvSpPr/>
          <p:nvPr/>
        </p:nvSpPr>
        <p:spPr>
          <a:xfrm>
            <a:off x="228600" y="3273552"/>
            <a:ext cx="8686800" cy="310896"/>
          </a:xfrm>
          <a:prstGeom prst="rect">
            <a:avLst/>
          </a:prstGeom>
          <a:solidFill>
            <a:srgbClr val="FFFFFF"/>
          </a:solidFill>
          <a:ln w="6350">
            <a:solidFill>
              <a:srgbClr val="E5E7EB"/>
            </a:solidFill>
            <a:prstDash val="solid"/>
          </a:ln>
        </p:spPr>
      </p:sp>
      <p:sp>
        <p:nvSpPr>
          <p:cNvPr id="44" name="Text 42"/>
          <p:cNvSpPr/>
          <p:nvPr/>
        </p:nvSpPr>
        <p:spPr>
          <a:xfrm>
            <a:off x="301752" y="3310128"/>
            <a:ext cx="1188720" cy="237744"/>
          </a:xfrm>
          <a:prstGeom prst="rect">
            <a:avLst/>
          </a:prstGeom>
          <a:noFill/>
          <a:ln/>
        </p:spPr>
        <p:txBody>
          <a:bodyPr wrap="square" lIns="0" tIns="0" rIns="0" bIns="0" rtlCol="0" anchor="ctr"/>
          <a:lstStyle/>
          <a:p>
            <a:pPr algn="l" indent="0" marL="0">
              <a:buNone/>
            </a:pPr>
            <a:r>
              <a:rPr lang="en-US" sz="900" b="1" dirty="0">
                <a:solidFill>
                  <a:srgbClr val="111111"/>
                </a:solidFill>
                <a:latin typeface="Calibri" pitchFamily="34" charset="0"/>
                <a:ea typeface="Calibri" pitchFamily="34" charset="-122"/>
                <a:cs typeface="Calibri" pitchFamily="34" charset="-120"/>
              </a:rPr>
              <a:t>BUILD</a:t>
            </a:r>
            <a:endParaRPr lang="en-US" sz="900" dirty="0"/>
          </a:p>
        </p:txBody>
      </p:sp>
      <p:sp>
        <p:nvSpPr>
          <p:cNvPr id="45" name="Text 43"/>
          <p:cNvSpPr/>
          <p:nvPr/>
        </p:nvSpPr>
        <p:spPr>
          <a:xfrm>
            <a:off x="1581912" y="3310128"/>
            <a:ext cx="146304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Cursor / Copilot</a:t>
            </a:r>
            <a:endParaRPr lang="en-US" sz="900" dirty="0"/>
          </a:p>
        </p:txBody>
      </p:sp>
      <p:sp>
        <p:nvSpPr>
          <p:cNvPr id="46" name="Text 44"/>
          <p:cNvSpPr/>
          <p:nvPr/>
        </p:nvSpPr>
        <p:spPr>
          <a:xfrm>
            <a:off x="3136392" y="3310128"/>
            <a:ext cx="576072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Implementation with context from the plan</a:t>
            </a:r>
            <a:endParaRPr lang="en-US" sz="900" dirty="0"/>
          </a:p>
        </p:txBody>
      </p:sp>
      <p:sp>
        <p:nvSpPr>
          <p:cNvPr id="47" name="Shape 45"/>
          <p:cNvSpPr/>
          <p:nvPr/>
        </p:nvSpPr>
        <p:spPr>
          <a:xfrm>
            <a:off x="228600" y="3584448"/>
            <a:ext cx="8686800" cy="310896"/>
          </a:xfrm>
          <a:prstGeom prst="rect">
            <a:avLst/>
          </a:prstGeom>
          <a:solidFill>
            <a:srgbClr val="F3F4F6"/>
          </a:solidFill>
          <a:ln w="6350">
            <a:solidFill>
              <a:srgbClr val="E5E7EB"/>
            </a:solidFill>
            <a:prstDash val="solid"/>
          </a:ln>
        </p:spPr>
      </p:sp>
      <p:sp>
        <p:nvSpPr>
          <p:cNvPr id="48" name="Text 46"/>
          <p:cNvSpPr/>
          <p:nvPr/>
        </p:nvSpPr>
        <p:spPr>
          <a:xfrm>
            <a:off x="301752" y="3621024"/>
            <a:ext cx="1188720" cy="237744"/>
          </a:xfrm>
          <a:prstGeom prst="rect">
            <a:avLst/>
          </a:prstGeom>
          <a:noFill/>
          <a:ln/>
        </p:spPr>
        <p:txBody>
          <a:bodyPr wrap="square" lIns="0" tIns="0" rIns="0" bIns="0" rtlCol="0" anchor="ctr"/>
          <a:lstStyle/>
          <a:p>
            <a:pPr algn="l" indent="0" marL="0">
              <a:buNone/>
            </a:pPr>
            <a:r>
              <a:rPr lang="en-US" sz="900" b="1" dirty="0">
                <a:solidFill>
                  <a:srgbClr val="111111"/>
                </a:solidFill>
                <a:latin typeface="Calibri" pitchFamily="34" charset="0"/>
                <a:ea typeface="Calibri" pitchFamily="34" charset="-122"/>
                <a:cs typeface="Calibri" pitchFamily="34" charset="-120"/>
              </a:rPr>
              <a:t>AI CHECK</a:t>
            </a:r>
            <a:endParaRPr lang="en-US" sz="900" dirty="0"/>
          </a:p>
        </p:txBody>
      </p:sp>
      <p:sp>
        <p:nvSpPr>
          <p:cNvPr id="49" name="Text 47"/>
          <p:cNvSpPr/>
          <p:nvPr/>
        </p:nvSpPr>
        <p:spPr>
          <a:xfrm>
            <a:off x="1581912" y="3621024"/>
            <a:ext cx="146304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Claude</a:t>
            </a:r>
            <a:endParaRPr lang="en-US" sz="900" dirty="0"/>
          </a:p>
        </p:txBody>
      </p:sp>
      <p:sp>
        <p:nvSpPr>
          <p:cNvPr id="50" name="Text 48"/>
          <p:cNvSpPr/>
          <p:nvPr/>
        </p:nvSpPr>
        <p:spPr>
          <a:xfrm>
            <a:off x="3136392" y="3621024"/>
            <a:ext cx="576072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Logic gaps, edge cases, pattern check</a:t>
            </a:r>
            <a:endParaRPr lang="en-US" sz="900" dirty="0"/>
          </a:p>
        </p:txBody>
      </p:sp>
      <p:sp>
        <p:nvSpPr>
          <p:cNvPr id="51" name="Shape 49"/>
          <p:cNvSpPr/>
          <p:nvPr/>
        </p:nvSpPr>
        <p:spPr>
          <a:xfrm>
            <a:off x="228600" y="3895344"/>
            <a:ext cx="8686800" cy="310896"/>
          </a:xfrm>
          <a:prstGeom prst="rect">
            <a:avLst/>
          </a:prstGeom>
          <a:solidFill>
            <a:srgbClr val="FFFFFF"/>
          </a:solidFill>
          <a:ln w="6350">
            <a:solidFill>
              <a:srgbClr val="E5E7EB"/>
            </a:solidFill>
            <a:prstDash val="solid"/>
          </a:ln>
        </p:spPr>
      </p:sp>
      <p:sp>
        <p:nvSpPr>
          <p:cNvPr id="52" name="Text 50"/>
          <p:cNvSpPr/>
          <p:nvPr/>
        </p:nvSpPr>
        <p:spPr>
          <a:xfrm>
            <a:off x="301752" y="3931920"/>
            <a:ext cx="1188720" cy="237744"/>
          </a:xfrm>
          <a:prstGeom prst="rect">
            <a:avLst/>
          </a:prstGeom>
          <a:noFill/>
          <a:ln/>
        </p:spPr>
        <p:txBody>
          <a:bodyPr wrap="square" lIns="0" tIns="0" rIns="0" bIns="0" rtlCol="0" anchor="ctr"/>
          <a:lstStyle/>
          <a:p>
            <a:pPr algn="l" indent="0" marL="0">
              <a:buNone/>
            </a:pPr>
            <a:r>
              <a:rPr lang="en-US" sz="900" b="1" dirty="0">
                <a:solidFill>
                  <a:srgbClr val="111111"/>
                </a:solidFill>
                <a:latin typeface="Calibri" pitchFamily="34" charset="0"/>
                <a:ea typeface="Calibri" pitchFamily="34" charset="-122"/>
                <a:cs typeface="Calibri" pitchFamily="34" charset="-120"/>
              </a:rPr>
              <a:t>HUMAN REVIEW</a:t>
            </a:r>
            <a:endParaRPr lang="en-US" sz="900" dirty="0"/>
          </a:p>
        </p:txBody>
      </p:sp>
      <p:sp>
        <p:nvSpPr>
          <p:cNvPr id="53" name="Text 51"/>
          <p:cNvSpPr/>
          <p:nvPr/>
        </p:nvSpPr>
        <p:spPr>
          <a:xfrm>
            <a:off x="1581912" y="3931920"/>
            <a:ext cx="146304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Peer / Lead</a:t>
            </a:r>
            <a:endParaRPr lang="en-US" sz="900" dirty="0"/>
          </a:p>
        </p:txBody>
      </p:sp>
      <p:sp>
        <p:nvSpPr>
          <p:cNvPr id="54" name="Text 52"/>
          <p:cNvSpPr/>
          <p:nvPr/>
        </p:nvSpPr>
        <p:spPr>
          <a:xfrm>
            <a:off x="3136392" y="3931920"/>
            <a:ext cx="576072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Business logic, architecture, security</a:t>
            </a:r>
            <a:endParaRPr lang="en-US" sz="900" dirty="0"/>
          </a:p>
        </p:txBody>
      </p:sp>
      <p:sp>
        <p:nvSpPr>
          <p:cNvPr id="55" name="Shape 53"/>
          <p:cNvSpPr/>
          <p:nvPr/>
        </p:nvSpPr>
        <p:spPr>
          <a:xfrm>
            <a:off x="228600" y="4206240"/>
            <a:ext cx="8686800" cy="310896"/>
          </a:xfrm>
          <a:prstGeom prst="rect">
            <a:avLst/>
          </a:prstGeom>
          <a:solidFill>
            <a:srgbClr val="F3F4F6"/>
          </a:solidFill>
          <a:ln w="6350">
            <a:solidFill>
              <a:srgbClr val="E5E7EB"/>
            </a:solidFill>
            <a:prstDash val="solid"/>
          </a:ln>
        </p:spPr>
      </p:sp>
      <p:sp>
        <p:nvSpPr>
          <p:cNvPr id="56" name="Text 54"/>
          <p:cNvSpPr/>
          <p:nvPr/>
        </p:nvSpPr>
        <p:spPr>
          <a:xfrm>
            <a:off x="301752" y="4242816"/>
            <a:ext cx="1188720" cy="237744"/>
          </a:xfrm>
          <a:prstGeom prst="rect">
            <a:avLst/>
          </a:prstGeom>
          <a:noFill/>
          <a:ln/>
        </p:spPr>
        <p:txBody>
          <a:bodyPr wrap="square" lIns="0" tIns="0" rIns="0" bIns="0" rtlCol="0" anchor="ctr"/>
          <a:lstStyle/>
          <a:p>
            <a:pPr algn="l" indent="0" marL="0">
              <a:buNone/>
            </a:pPr>
            <a:r>
              <a:rPr lang="en-US" sz="900" b="1" dirty="0">
                <a:solidFill>
                  <a:srgbClr val="111111"/>
                </a:solidFill>
                <a:latin typeface="Calibri" pitchFamily="34" charset="0"/>
                <a:ea typeface="Calibri" pitchFamily="34" charset="-122"/>
                <a:cs typeface="Calibri" pitchFamily="34" charset="-120"/>
              </a:rPr>
              <a:t>TEST</a:t>
            </a:r>
            <a:endParaRPr lang="en-US" sz="900" dirty="0"/>
          </a:p>
        </p:txBody>
      </p:sp>
      <p:sp>
        <p:nvSpPr>
          <p:cNvPr id="57" name="Text 55"/>
          <p:cNvSpPr/>
          <p:nvPr/>
        </p:nvSpPr>
        <p:spPr>
          <a:xfrm>
            <a:off x="1581912" y="4242816"/>
            <a:ext cx="146304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All</a:t>
            </a:r>
            <a:endParaRPr lang="en-US" sz="900" dirty="0"/>
          </a:p>
        </p:txBody>
      </p:sp>
      <p:sp>
        <p:nvSpPr>
          <p:cNvPr id="58" name="Text 56"/>
          <p:cNvSpPr/>
          <p:nvPr/>
        </p:nvSpPr>
        <p:spPr>
          <a:xfrm>
            <a:off x="3136392" y="4242816"/>
            <a:ext cx="576072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Unit + edge cases alongside the code, not after</a:t>
            </a:r>
            <a:endParaRPr lang="en-US" sz="900" dirty="0"/>
          </a:p>
        </p:txBody>
      </p:sp>
      <p:sp>
        <p:nvSpPr>
          <p:cNvPr id="59" name="Shape 57"/>
          <p:cNvSpPr/>
          <p:nvPr/>
        </p:nvSpPr>
        <p:spPr>
          <a:xfrm>
            <a:off x="228600" y="4517136"/>
            <a:ext cx="8686800" cy="310896"/>
          </a:xfrm>
          <a:prstGeom prst="rect">
            <a:avLst/>
          </a:prstGeom>
          <a:solidFill>
            <a:srgbClr val="FFFFFF"/>
          </a:solidFill>
          <a:ln w="6350">
            <a:solidFill>
              <a:srgbClr val="E5E7EB"/>
            </a:solidFill>
            <a:prstDash val="solid"/>
          </a:ln>
        </p:spPr>
      </p:sp>
      <p:sp>
        <p:nvSpPr>
          <p:cNvPr id="60" name="Text 58"/>
          <p:cNvSpPr/>
          <p:nvPr/>
        </p:nvSpPr>
        <p:spPr>
          <a:xfrm>
            <a:off x="301752" y="4553712"/>
            <a:ext cx="1188720" cy="237744"/>
          </a:xfrm>
          <a:prstGeom prst="rect">
            <a:avLst/>
          </a:prstGeom>
          <a:noFill/>
          <a:ln/>
        </p:spPr>
        <p:txBody>
          <a:bodyPr wrap="square" lIns="0" tIns="0" rIns="0" bIns="0" rtlCol="0" anchor="ctr"/>
          <a:lstStyle/>
          <a:p>
            <a:pPr algn="l" indent="0" marL="0">
              <a:buNone/>
            </a:pPr>
            <a:r>
              <a:rPr lang="en-US" sz="900" b="1" dirty="0">
                <a:solidFill>
                  <a:srgbClr val="111111"/>
                </a:solidFill>
                <a:latin typeface="Calibri" pitchFamily="34" charset="0"/>
                <a:ea typeface="Calibri" pitchFamily="34" charset="-122"/>
                <a:cs typeface="Calibri" pitchFamily="34" charset="-120"/>
              </a:rPr>
              <a:t>MERGE</a:t>
            </a:r>
            <a:endParaRPr lang="en-US" sz="900" dirty="0"/>
          </a:p>
        </p:txBody>
      </p:sp>
      <p:sp>
        <p:nvSpPr>
          <p:cNvPr id="61" name="Text 59"/>
          <p:cNvSpPr/>
          <p:nvPr/>
        </p:nvSpPr>
        <p:spPr>
          <a:xfrm>
            <a:off x="1581912" y="4553712"/>
            <a:ext cx="146304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Lead / Peer</a:t>
            </a:r>
            <a:endParaRPr lang="en-US" sz="900" dirty="0"/>
          </a:p>
        </p:txBody>
      </p:sp>
      <p:sp>
        <p:nvSpPr>
          <p:cNvPr id="62" name="Text 60"/>
          <p:cNvSpPr/>
          <p:nvPr/>
        </p:nvSpPr>
        <p:spPr>
          <a:xfrm>
            <a:off x="3136392" y="4553712"/>
            <a:ext cx="5760720" cy="237744"/>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Explicit approval — lead for core, peer for rest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7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Recalculating. Five ways to stay on course.</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8138160" cy="310896"/>
          </a:xfrm>
          <a:prstGeom prst="rect">
            <a:avLst/>
          </a:prstGeom>
          <a:solidFill>
            <a:srgbClr val="111111"/>
          </a:solidFill>
          <a:ln w="12700">
            <a:solidFill>
              <a:srgbClr val="111111"/>
            </a:solidFill>
            <a:prstDash val="solid"/>
          </a:ln>
        </p:spPr>
      </p:sp>
      <p:sp>
        <p:nvSpPr>
          <p:cNvPr id="6" name="Text 4"/>
          <p:cNvSpPr/>
          <p:nvPr/>
        </p:nvSpPr>
        <p:spPr>
          <a:xfrm>
            <a:off x="612648" y="1389888"/>
            <a:ext cx="1078992"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Control</a:t>
            </a:r>
            <a:endParaRPr lang="en-US" sz="1000" dirty="0"/>
          </a:p>
        </p:txBody>
      </p:sp>
      <p:sp>
        <p:nvSpPr>
          <p:cNvPr id="7" name="Text 5"/>
          <p:cNvSpPr/>
          <p:nvPr/>
        </p:nvSpPr>
        <p:spPr>
          <a:xfrm>
            <a:off x="1801368" y="1389888"/>
            <a:ext cx="1078992"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Text 6"/>
          <p:cNvSpPr/>
          <p:nvPr/>
        </p:nvSpPr>
        <p:spPr>
          <a:xfrm>
            <a:off x="3721608" y="1389888"/>
            <a:ext cx="1078992"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p>
        </p:txBody>
      </p:sp>
      <p:sp>
        <p:nvSpPr>
          <p:cNvPr id="9" name="Shape 7"/>
          <p:cNvSpPr/>
          <p:nvPr/>
        </p:nvSpPr>
        <p:spPr>
          <a:xfrm>
            <a:off x="502920" y="1700784"/>
            <a:ext cx="8138160" cy="603504"/>
          </a:xfrm>
          <a:prstGeom prst="rect">
            <a:avLst/>
          </a:prstGeom>
          <a:solidFill>
            <a:srgbClr val="FFFFFF"/>
          </a:solidFill>
          <a:ln w="6350">
            <a:solidFill>
              <a:srgbClr val="E5E7EB"/>
            </a:solidFill>
            <a:prstDash val="solid"/>
          </a:ln>
        </p:spPr>
      </p:sp>
      <p:sp>
        <p:nvSpPr>
          <p:cNvPr id="10" name="Text 8"/>
          <p:cNvSpPr/>
          <p:nvPr/>
        </p:nvSpPr>
        <p:spPr>
          <a:xfrm>
            <a:off x="612648" y="1773936"/>
            <a:ext cx="1024128" cy="457200"/>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Continue</a:t>
            </a:r>
            <a:endParaRPr lang="en-US" sz="1200" dirty="0"/>
          </a:p>
        </p:txBody>
      </p:sp>
      <p:sp>
        <p:nvSpPr>
          <p:cNvPr id="11" name="Text 9"/>
          <p:cNvSpPr/>
          <p:nvPr/>
        </p:nvSpPr>
        <p:spPr>
          <a:xfrm>
            <a:off x="1801368" y="1773936"/>
            <a:ext cx="1755648" cy="4572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Claude paused mid-task</a:t>
            </a:r>
            <a:endParaRPr lang="en-US" sz="1200" dirty="0"/>
          </a:p>
        </p:txBody>
      </p:sp>
      <p:sp>
        <p:nvSpPr>
          <p:cNvPr id="12" name="Text 10"/>
          <p:cNvSpPr/>
          <p:nvPr/>
        </p:nvSpPr>
        <p:spPr>
          <a:xfrm>
            <a:off x="3721608" y="1755648"/>
            <a:ext cx="4846320" cy="512064"/>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Picks up exactly where it left off — no drift. Re-prompting restarts reasoning and can drift.</a:t>
            </a:r>
            <a:endParaRPr lang="en-US" sz="1100" dirty="0"/>
          </a:p>
        </p:txBody>
      </p:sp>
      <p:sp>
        <p:nvSpPr>
          <p:cNvPr id="13" name="Shape 11"/>
          <p:cNvSpPr/>
          <p:nvPr/>
        </p:nvSpPr>
        <p:spPr>
          <a:xfrm>
            <a:off x="1691640" y="1700784"/>
            <a:ext cx="0" cy="603504"/>
          </a:xfrm>
          <a:prstGeom prst="line">
            <a:avLst/>
          </a:prstGeom>
          <a:noFill/>
          <a:ln w="3810">
            <a:solidFill>
              <a:srgbClr val="E5E7EB"/>
            </a:solidFill>
            <a:prstDash val="solid"/>
          </a:ln>
        </p:spPr>
      </p:sp>
      <p:sp>
        <p:nvSpPr>
          <p:cNvPr id="14" name="Shape 12"/>
          <p:cNvSpPr/>
          <p:nvPr/>
        </p:nvSpPr>
        <p:spPr>
          <a:xfrm>
            <a:off x="3611880" y="1700784"/>
            <a:ext cx="0" cy="603504"/>
          </a:xfrm>
          <a:prstGeom prst="line">
            <a:avLst/>
          </a:prstGeom>
          <a:noFill/>
          <a:ln w="3810">
            <a:solidFill>
              <a:srgbClr val="E5E7EB"/>
            </a:solidFill>
            <a:prstDash val="solid"/>
          </a:ln>
        </p:spPr>
      </p:sp>
      <p:sp>
        <p:nvSpPr>
          <p:cNvPr id="15" name="Shape 13"/>
          <p:cNvSpPr/>
          <p:nvPr/>
        </p:nvSpPr>
        <p:spPr>
          <a:xfrm>
            <a:off x="502920" y="2304288"/>
            <a:ext cx="8138160" cy="603504"/>
          </a:xfrm>
          <a:prstGeom prst="rect">
            <a:avLst/>
          </a:prstGeom>
          <a:solidFill>
            <a:srgbClr val="F3F4F6"/>
          </a:solidFill>
          <a:ln w="6350">
            <a:solidFill>
              <a:srgbClr val="E5E7EB"/>
            </a:solidFill>
            <a:prstDash val="solid"/>
          </a:ln>
        </p:spPr>
      </p:sp>
      <p:sp>
        <p:nvSpPr>
          <p:cNvPr id="16" name="Text 14"/>
          <p:cNvSpPr/>
          <p:nvPr/>
        </p:nvSpPr>
        <p:spPr>
          <a:xfrm>
            <a:off x="612648" y="2377440"/>
            <a:ext cx="1024128" cy="457200"/>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Rewind</a:t>
            </a:r>
            <a:endParaRPr lang="en-US" sz="1200" dirty="0"/>
          </a:p>
        </p:txBody>
      </p:sp>
      <p:sp>
        <p:nvSpPr>
          <p:cNvPr id="17" name="Text 15"/>
          <p:cNvSpPr/>
          <p:nvPr/>
        </p:nvSpPr>
        <p:spPr>
          <a:xfrm>
            <a:off x="1801368" y="2377440"/>
            <a:ext cx="1755648" cy="4572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Wrong direction taken</a:t>
            </a:r>
            <a:endParaRPr lang="en-US" sz="1200" dirty="0"/>
          </a:p>
        </p:txBody>
      </p:sp>
      <p:sp>
        <p:nvSpPr>
          <p:cNvPr id="18" name="Text 16"/>
          <p:cNvSpPr/>
          <p:nvPr/>
        </p:nvSpPr>
        <p:spPr>
          <a:xfrm>
            <a:off x="3721608" y="2359152"/>
            <a:ext cx="4846320" cy="512064"/>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Cuts the wrong path cleanly. Re-prompt with the correct target.</a:t>
            </a:r>
            <a:endParaRPr lang="en-US" sz="1100" dirty="0"/>
          </a:p>
        </p:txBody>
      </p:sp>
      <p:sp>
        <p:nvSpPr>
          <p:cNvPr id="19" name="Shape 17"/>
          <p:cNvSpPr/>
          <p:nvPr/>
        </p:nvSpPr>
        <p:spPr>
          <a:xfrm>
            <a:off x="1691640" y="2304288"/>
            <a:ext cx="0" cy="603504"/>
          </a:xfrm>
          <a:prstGeom prst="line">
            <a:avLst/>
          </a:prstGeom>
          <a:noFill/>
          <a:ln w="3810">
            <a:solidFill>
              <a:srgbClr val="E5E7EB"/>
            </a:solidFill>
            <a:prstDash val="solid"/>
          </a:ln>
        </p:spPr>
      </p:sp>
      <p:sp>
        <p:nvSpPr>
          <p:cNvPr id="20" name="Shape 18"/>
          <p:cNvSpPr/>
          <p:nvPr/>
        </p:nvSpPr>
        <p:spPr>
          <a:xfrm>
            <a:off x="3611880" y="2304288"/>
            <a:ext cx="0" cy="603504"/>
          </a:xfrm>
          <a:prstGeom prst="line">
            <a:avLst/>
          </a:prstGeom>
          <a:noFill/>
          <a:ln w="3810">
            <a:solidFill>
              <a:srgbClr val="E5E7EB"/>
            </a:solidFill>
            <a:prstDash val="solid"/>
          </a:ln>
        </p:spPr>
      </p:sp>
      <p:sp>
        <p:nvSpPr>
          <p:cNvPr id="21" name="Shape 19"/>
          <p:cNvSpPr/>
          <p:nvPr/>
        </p:nvSpPr>
        <p:spPr>
          <a:xfrm>
            <a:off x="502920" y="2907792"/>
            <a:ext cx="8138160" cy="603504"/>
          </a:xfrm>
          <a:prstGeom prst="rect">
            <a:avLst/>
          </a:prstGeom>
          <a:solidFill>
            <a:srgbClr val="FFFFFF"/>
          </a:solidFill>
          <a:ln w="6350">
            <a:solidFill>
              <a:srgbClr val="E5E7EB"/>
            </a:solidFill>
            <a:prstDash val="solid"/>
          </a:ln>
        </p:spPr>
      </p:sp>
      <p:sp>
        <p:nvSpPr>
          <p:cNvPr id="22" name="Text 20"/>
          <p:cNvSpPr/>
          <p:nvPr/>
        </p:nvSpPr>
        <p:spPr>
          <a:xfrm>
            <a:off x="612648" y="2980944"/>
            <a:ext cx="1024128" cy="457200"/>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/clear</a:t>
            </a:r>
            <a:endParaRPr lang="en-US" sz="1200" dirty="0"/>
          </a:p>
        </p:txBody>
      </p:sp>
      <p:sp>
        <p:nvSpPr>
          <p:cNvPr id="23" name="Text 21"/>
          <p:cNvSpPr/>
          <p:nvPr/>
        </p:nvSpPr>
        <p:spPr>
          <a:xfrm>
            <a:off x="1801368" y="2980944"/>
            <a:ext cx="1755648" cy="4572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Switching tasks entirely</a:t>
            </a:r>
            <a:endParaRPr lang="en-US" sz="1200" dirty="0"/>
          </a:p>
        </p:txBody>
      </p:sp>
      <p:sp>
        <p:nvSpPr>
          <p:cNvPr id="24" name="Text 22"/>
          <p:cNvSpPr/>
          <p:nvPr/>
        </p:nvSpPr>
        <p:spPr>
          <a:xfrm>
            <a:off x="3721608" y="2962656"/>
            <a:ext cx="4846320" cy="512064"/>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Removes stale context. Fresh map for a new destination.</a:t>
            </a:r>
            <a:endParaRPr lang="en-US" sz="1100" dirty="0"/>
          </a:p>
        </p:txBody>
      </p:sp>
      <p:sp>
        <p:nvSpPr>
          <p:cNvPr id="25" name="Shape 23"/>
          <p:cNvSpPr/>
          <p:nvPr/>
        </p:nvSpPr>
        <p:spPr>
          <a:xfrm>
            <a:off x="1691640" y="2907792"/>
            <a:ext cx="0" cy="603504"/>
          </a:xfrm>
          <a:prstGeom prst="line">
            <a:avLst/>
          </a:prstGeom>
          <a:noFill/>
          <a:ln w="3810">
            <a:solidFill>
              <a:srgbClr val="E5E7EB"/>
            </a:solidFill>
            <a:prstDash val="solid"/>
          </a:ln>
        </p:spPr>
      </p:sp>
      <p:sp>
        <p:nvSpPr>
          <p:cNvPr id="26" name="Shape 24"/>
          <p:cNvSpPr/>
          <p:nvPr/>
        </p:nvSpPr>
        <p:spPr>
          <a:xfrm>
            <a:off x="3611880" y="2907792"/>
            <a:ext cx="0" cy="603504"/>
          </a:xfrm>
          <a:prstGeom prst="line">
            <a:avLst/>
          </a:prstGeom>
          <a:noFill/>
          <a:ln w="3810">
            <a:solidFill>
              <a:srgbClr val="E5E7EB"/>
            </a:solidFill>
            <a:prstDash val="solid"/>
          </a:ln>
        </p:spPr>
      </p:sp>
      <p:sp>
        <p:nvSpPr>
          <p:cNvPr id="27" name="Shape 25"/>
          <p:cNvSpPr/>
          <p:nvPr/>
        </p:nvSpPr>
        <p:spPr>
          <a:xfrm>
            <a:off x="502920" y="3511296"/>
            <a:ext cx="8138160" cy="603504"/>
          </a:xfrm>
          <a:prstGeom prst="rect">
            <a:avLst/>
          </a:prstGeom>
          <a:solidFill>
            <a:srgbClr val="F3F4F6"/>
          </a:solidFill>
          <a:ln w="6350">
            <a:solidFill>
              <a:srgbClr val="E5E7EB"/>
            </a:solidFill>
            <a:prstDash val="solid"/>
          </a:ln>
        </p:spPr>
      </p:sp>
      <p:sp>
        <p:nvSpPr>
          <p:cNvPr id="28" name="Text 26"/>
          <p:cNvSpPr/>
          <p:nvPr/>
        </p:nvSpPr>
        <p:spPr>
          <a:xfrm>
            <a:off x="612648" y="3584448"/>
            <a:ext cx="1024128" cy="457200"/>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/compact</a:t>
            </a:r>
            <a:endParaRPr lang="en-US" sz="1200" dirty="0"/>
          </a:p>
        </p:txBody>
      </p:sp>
      <p:sp>
        <p:nvSpPr>
          <p:cNvPr id="29" name="Text 27"/>
          <p:cNvSpPr/>
          <p:nvPr/>
        </p:nvSpPr>
        <p:spPr>
          <a:xfrm>
            <a:off x="1801368" y="3584448"/>
            <a:ext cx="1755648" cy="4572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Context window filling up</a:t>
            </a:r>
            <a:endParaRPr lang="en-US" sz="1200" dirty="0"/>
          </a:p>
        </p:txBody>
      </p:sp>
      <p:sp>
        <p:nvSpPr>
          <p:cNvPr id="30" name="Text 28"/>
          <p:cNvSpPr/>
          <p:nvPr/>
        </p:nvSpPr>
        <p:spPr>
          <a:xfrm>
            <a:off x="3721608" y="3566160"/>
            <a:ext cx="4846320" cy="512064"/>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Claude summarises progress. Recovers ~60% context. Compact before it fills — not after.</a:t>
            </a:r>
            <a:endParaRPr lang="en-US" sz="1100" dirty="0"/>
          </a:p>
        </p:txBody>
      </p:sp>
      <p:sp>
        <p:nvSpPr>
          <p:cNvPr id="31" name="Shape 29"/>
          <p:cNvSpPr/>
          <p:nvPr/>
        </p:nvSpPr>
        <p:spPr>
          <a:xfrm>
            <a:off x="1691640" y="3511296"/>
            <a:ext cx="0" cy="603504"/>
          </a:xfrm>
          <a:prstGeom prst="line">
            <a:avLst/>
          </a:prstGeom>
          <a:noFill/>
          <a:ln w="3810">
            <a:solidFill>
              <a:srgbClr val="E5E7EB"/>
            </a:solidFill>
            <a:prstDash val="solid"/>
          </a:ln>
        </p:spPr>
      </p:sp>
      <p:sp>
        <p:nvSpPr>
          <p:cNvPr id="32" name="Shape 30"/>
          <p:cNvSpPr/>
          <p:nvPr/>
        </p:nvSpPr>
        <p:spPr>
          <a:xfrm>
            <a:off x="3611880" y="3511296"/>
            <a:ext cx="0" cy="603504"/>
          </a:xfrm>
          <a:prstGeom prst="line">
            <a:avLst/>
          </a:prstGeom>
          <a:noFill/>
          <a:ln w="3810">
            <a:solidFill>
              <a:srgbClr val="E5E7EB"/>
            </a:solidFill>
            <a:prstDash val="solid"/>
          </a:ln>
        </p:spPr>
      </p:sp>
      <p:sp>
        <p:nvSpPr>
          <p:cNvPr id="33" name="Shape 31"/>
          <p:cNvSpPr/>
          <p:nvPr/>
        </p:nvSpPr>
        <p:spPr>
          <a:xfrm>
            <a:off x="502920" y="4114800"/>
            <a:ext cx="8138160" cy="603504"/>
          </a:xfrm>
          <a:prstGeom prst="rect">
            <a:avLst/>
          </a:prstGeom>
          <a:solidFill>
            <a:srgbClr val="FFFFFF"/>
          </a:solidFill>
          <a:ln w="6350">
            <a:solidFill>
              <a:srgbClr val="E5E7EB"/>
            </a:solidFill>
            <a:prstDash val="solid"/>
          </a:ln>
        </p:spPr>
      </p:sp>
      <p:sp>
        <p:nvSpPr>
          <p:cNvPr id="34" name="Text 32"/>
          <p:cNvSpPr/>
          <p:nvPr/>
        </p:nvSpPr>
        <p:spPr>
          <a:xfrm>
            <a:off x="612648" y="4187952"/>
            <a:ext cx="1024128" cy="457200"/>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Subagent</a:t>
            </a:r>
            <a:endParaRPr lang="en-US" sz="1200" dirty="0"/>
          </a:p>
        </p:txBody>
      </p:sp>
      <p:sp>
        <p:nvSpPr>
          <p:cNvPr id="35" name="Text 33"/>
          <p:cNvSpPr/>
          <p:nvPr/>
        </p:nvSpPr>
        <p:spPr>
          <a:xfrm>
            <a:off x="1801368" y="4187952"/>
            <a:ext cx="1755648" cy="4572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Repeatable specialist task</a:t>
            </a:r>
            <a:endParaRPr lang="en-US" sz="1200" dirty="0"/>
          </a:p>
        </p:txBody>
      </p:sp>
      <p:sp>
        <p:nvSpPr>
          <p:cNvPr id="36" name="Text 34"/>
          <p:cNvSpPr/>
          <p:nvPr/>
        </p:nvSpPr>
        <p:spPr>
          <a:xfrm>
            <a:off x="3721608" y="4169664"/>
            <a:ext cx="4846320" cy="512064"/>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/review triggers code-reviewer.md — same team standards, every PR, automatically.</a:t>
            </a:r>
            <a:endParaRPr lang="en-US" sz="1100" dirty="0"/>
          </a:p>
        </p:txBody>
      </p:sp>
      <p:sp>
        <p:nvSpPr>
          <p:cNvPr id="37" name="Shape 35"/>
          <p:cNvSpPr/>
          <p:nvPr/>
        </p:nvSpPr>
        <p:spPr>
          <a:xfrm>
            <a:off x="1691640" y="4114800"/>
            <a:ext cx="0" cy="603504"/>
          </a:xfrm>
          <a:prstGeom prst="line">
            <a:avLst/>
          </a:prstGeom>
          <a:noFill/>
          <a:ln w="3810">
            <a:solidFill>
              <a:srgbClr val="E5E7EB"/>
            </a:solidFill>
            <a:prstDash val="solid"/>
          </a:ln>
        </p:spPr>
      </p:sp>
      <p:sp>
        <p:nvSpPr>
          <p:cNvPr id="38" name="Shape 36"/>
          <p:cNvSpPr/>
          <p:nvPr/>
        </p:nvSpPr>
        <p:spPr>
          <a:xfrm>
            <a:off x="3611880" y="4114800"/>
            <a:ext cx="0" cy="603504"/>
          </a:xfrm>
          <a:prstGeom prst="line">
            <a:avLst/>
          </a:prstGeom>
          <a:noFill/>
          <a:ln w="3810">
            <a:solidFill>
              <a:srgbClr val="E5E7EB"/>
            </a:solidFill>
            <a:prstDash val="solid"/>
          </a:ln>
        </p:spPr>
      </p:sp>
      <p:sp>
        <p:nvSpPr>
          <p:cNvPr id="39" name="Text 37"/>
          <p:cNvSpPr/>
          <p:nvPr/>
        </p:nvSpPr>
        <p:spPr>
          <a:xfrm>
            <a:off x="502920" y="4828032"/>
            <a:ext cx="8138160" cy="237744"/>
          </a:xfrm>
          <a:prstGeom prst="rect">
            <a:avLst/>
          </a:prstGeom>
          <a:noFill/>
          <a:ln/>
        </p:spPr>
        <p:txBody>
          <a:bodyPr wrap="square" lIns="0" tIns="0" rIns="0" bIns="0" rtlCol="0" anchor="ctr"/>
          <a:lstStyle/>
          <a:p>
            <a:pPr algn="ctr" indent="0" marL="0">
              <a:buNone/>
            </a:pPr>
            <a:r>
              <a:rPr lang="en-US" sz="1200" i="1" dirty="0">
                <a:solidFill>
                  <a:srgbClr val="A0A8B3"/>
                </a:solidFill>
                <a:latin typeface="Calibri" pitchFamily="34" charset="0"/>
                <a:ea typeface="Calibri" pitchFamily="34" charset="-122"/>
                <a:cs typeface="Calibri" pitchFamily="34" charset="-120"/>
              </a:rPr>
              <a:t>“Re-prompting is not the same as recalculating.”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8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Wrong address in. Wrong place out. Every time.</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8138160" cy="329184"/>
          </a:xfrm>
          <a:prstGeom prst="rect">
            <a:avLst/>
          </a:prstGeom>
          <a:solidFill>
            <a:srgbClr val="111111"/>
          </a:solidFill>
          <a:ln w="12700">
            <a:solidFill>
              <a:srgbClr val="111111"/>
            </a:solidFill>
            <a:prstDash val="solid"/>
          </a:ln>
        </p:spPr>
      </p:sp>
      <p:sp>
        <p:nvSpPr>
          <p:cNvPr id="6" name="Text 4"/>
          <p:cNvSpPr/>
          <p:nvPr/>
        </p:nvSpPr>
        <p:spPr>
          <a:xfrm>
            <a:off x="502920" y="1389888"/>
            <a:ext cx="81381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Context  +  Task  +  Constraints  +  Format  =  Useful output</a:t>
            </a:r>
            <a:endParaRPr lang="en-US" sz="1600" dirty="0"/>
          </a:p>
        </p:txBody>
      </p:sp>
      <p:sp>
        <p:nvSpPr>
          <p:cNvPr id="7" name="Shape 5"/>
          <p:cNvSpPr/>
          <p:nvPr/>
        </p:nvSpPr>
        <p:spPr>
          <a:xfrm>
            <a:off x="502920" y="1874520"/>
            <a:ext cx="3840480" cy="2331720"/>
          </a:xfrm>
          <a:prstGeom prst="rect">
            <a:avLst/>
          </a:prstGeom>
          <a:solidFill>
            <a:srgbClr val="F3F4F6"/>
          </a:solidFill>
          <a:ln w="6350">
            <a:solidFill>
              <a:srgbClr val="D1D5DB"/>
            </a:solidFill>
            <a:prstDash val="solid"/>
          </a:ln>
          <a:effectLst>
            <a:outerShdw sx="100000" sy="100000" kx="0" ky="0" algn="bl" rotWithShape="0" blurRad="63500" dist="25400" dir="8100000">
              <a:srgbClr val="000000">
                <a:alpha val="7000"/>
              </a:srgbClr>
            </a:outerShdw>
          </a:effectLst>
        </p:spPr>
      </p:sp>
      <p:sp>
        <p:nvSpPr>
          <p:cNvPr id="8" name="Text 6"/>
          <p:cNvSpPr/>
          <p:nvPr/>
        </p:nvSpPr>
        <p:spPr>
          <a:xfrm>
            <a:off x="658368" y="1984248"/>
            <a:ext cx="3621024" cy="219456"/>
          </a:xfrm>
          <a:prstGeom prst="rect">
            <a:avLst/>
          </a:prstGeom>
          <a:noFill/>
          <a:ln/>
        </p:spPr>
        <p:txBody>
          <a:bodyPr wrap="square" lIns="0" tIns="0" rIns="0" bIns="0" rtlCol="0" anchor="ctr"/>
          <a:lstStyle/>
          <a:p>
            <a:pPr algn="l" indent="0" marL="0">
              <a:buNone/>
            </a:pPr>
            <a:r>
              <a:rPr lang="en-US" sz="900" b="1" spc="100" kern="0" dirty="0">
                <a:solidFill>
                  <a:srgbClr val="A0A8B3"/>
                </a:solidFill>
                <a:latin typeface="Calibri" pitchFamily="34" charset="0"/>
                <a:ea typeface="Calibri" pitchFamily="34" charset="-122"/>
                <a:cs typeface="Calibri" pitchFamily="34" charset="-120"/>
              </a:rPr>
              <a:t>WEAK PROMPT</a:t>
            </a:r>
            <a:endParaRPr lang="en-US" sz="900" dirty="0"/>
          </a:p>
        </p:txBody>
      </p:sp>
      <p:sp>
        <p:nvSpPr>
          <p:cNvPr id="9" name="Shape 7"/>
          <p:cNvSpPr/>
          <p:nvPr/>
        </p:nvSpPr>
        <p:spPr>
          <a:xfrm>
            <a:off x="658368" y="2258568"/>
            <a:ext cx="3529584" cy="384048"/>
          </a:xfrm>
          <a:prstGeom prst="rect">
            <a:avLst/>
          </a:prstGeom>
          <a:solidFill>
            <a:srgbClr val="ECECEC"/>
          </a:solidFill>
          <a:ln w="12700">
            <a:solidFill>
              <a:srgbClr val="ECECEC"/>
            </a:solidFill>
            <a:prstDash val="solid"/>
          </a:ln>
        </p:spPr>
      </p:sp>
      <p:sp>
        <p:nvSpPr>
          <p:cNvPr id="10" name="Text 8"/>
          <p:cNvSpPr/>
          <p:nvPr/>
        </p:nvSpPr>
        <p:spPr>
          <a:xfrm>
            <a:off x="731520" y="2258568"/>
            <a:ext cx="3383280" cy="384048"/>
          </a:xfrm>
          <a:prstGeom prst="rect">
            <a:avLst/>
          </a:prstGeom>
          <a:noFill/>
          <a:ln/>
        </p:spPr>
        <p:txBody>
          <a:bodyPr wrap="square" lIns="0" tIns="0" rIns="0" bIns="0" rtlCol="0" anchor="ctr"/>
          <a:lstStyle/>
          <a:p>
            <a:pPr algn="l" indent="0" marL="0">
              <a:buNone/>
            </a:pPr>
            <a:r>
              <a:rPr lang="en-US" sz="1200" dirty="0">
                <a:solidFill>
                  <a:srgbClr val="111111"/>
                </a:solidFill>
                <a:latin typeface="Consolas" pitchFamily="34" charset="0"/>
                <a:ea typeface="Consolas" pitchFamily="34" charset="-122"/>
                <a:cs typeface="Consolas" pitchFamily="34" charset="-120"/>
              </a:rPr>
              <a:t>Fix this function</a:t>
            </a:r>
            <a:endParaRPr lang="en-US" sz="1200" dirty="0"/>
          </a:p>
        </p:txBody>
      </p:sp>
      <p:sp>
        <p:nvSpPr>
          <p:cNvPr id="11" name="Text 9"/>
          <p:cNvSpPr/>
          <p:nvPr/>
        </p:nvSpPr>
        <p:spPr>
          <a:xfrm>
            <a:off x="658368" y="2752344"/>
            <a:ext cx="3529584" cy="1325880"/>
          </a:xfrm>
          <a:prstGeom prst="rect">
            <a:avLst/>
          </a:prstGeom>
          <a:noFill/>
          <a:ln/>
        </p:spPr>
        <p:txBody>
          <a:bodyPr wrap="square" lIns="50800" tIns="50800" rIns="50800" bIns="50800" rtlCol="0" anchor="ctr"/>
          <a:lstStyle/>
          <a:p>
            <a:pPr algn="l" indent="0" marL="0">
              <a:buNone/>
            </a:pPr>
            <a:r>
              <a:rPr lang="en-US" sz="1000" dirty="0">
                <a:solidFill>
                  <a:srgbClr val="A0A8B3"/>
                </a:solidFill>
                <a:latin typeface="Calibri" pitchFamily="34" charset="0"/>
                <a:ea typeface="Calibri" pitchFamily="34" charset="-122"/>
                <a:cs typeface="Calibri" pitchFamily="34" charset="-120"/>
              </a:rPr>
              <a:t>Here's a possible fix... You might also consider... Depending on your framework... There are several approaches...</a:t>
            </a:r>
            <a:endParaRPr lang="en-US" sz="1000" dirty="0"/>
          </a:p>
        </p:txBody>
      </p:sp>
      <p:sp>
        <p:nvSpPr>
          <p:cNvPr id="12" name="Shape 10"/>
          <p:cNvSpPr/>
          <p:nvPr/>
        </p:nvSpPr>
        <p:spPr>
          <a:xfrm>
            <a:off x="4800600" y="1874520"/>
            <a:ext cx="3840480" cy="2331720"/>
          </a:xfrm>
          <a:prstGeom prst="rect">
            <a:avLst/>
          </a:prstGeom>
          <a:solidFill>
            <a:srgbClr val="FFFFFF"/>
          </a:solidFill>
          <a:ln w="6350">
            <a:solidFill>
              <a:srgbClr val="111111"/>
            </a:solidFill>
            <a:prstDash val="solid"/>
          </a:ln>
          <a:effectLst>
            <a:outerShdw sx="100000" sy="100000" kx="0" ky="0" algn="bl" rotWithShape="0" blurRad="63500" dist="25400" dir="8100000">
              <a:srgbClr val="000000">
                <a:alpha val="7000"/>
              </a:srgbClr>
            </a:outerShdw>
          </a:effectLst>
        </p:spPr>
      </p:sp>
      <p:sp>
        <p:nvSpPr>
          <p:cNvPr id="13" name="Text 11"/>
          <p:cNvSpPr/>
          <p:nvPr/>
        </p:nvSpPr>
        <p:spPr>
          <a:xfrm>
            <a:off x="4956048" y="1984248"/>
            <a:ext cx="3621024" cy="219456"/>
          </a:xfrm>
          <a:prstGeom prst="rect">
            <a:avLst/>
          </a:prstGeom>
          <a:noFill/>
          <a:ln/>
        </p:spPr>
        <p:txBody>
          <a:bodyPr wrap="square" lIns="0" tIns="0" rIns="0" bIns="0" rtlCol="0" anchor="ctr"/>
          <a:lstStyle/>
          <a:p>
            <a:pPr algn="l" indent="0" marL="0">
              <a:buNone/>
            </a:pPr>
            <a:r>
              <a:rPr lang="en-US" sz="900" b="1" spc="100" kern="0" dirty="0">
                <a:solidFill>
                  <a:srgbClr val="111111"/>
                </a:solidFill>
                <a:latin typeface="Calibri" pitchFamily="34" charset="0"/>
                <a:ea typeface="Calibri" pitchFamily="34" charset="-122"/>
                <a:cs typeface="Calibri" pitchFamily="34" charset="-120"/>
              </a:rPr>
              <a:t>STRONG PROMPT</a:t>
            </a:r>
            <a:endParaRPr lang="en-US" sz="900" dirty="0"/>
          </a:p>
        </p:txBody>
      </p:sp>
      <p:sp>
        <p:nvSpPr>
          <p:cNvPr id="14" name="Shape 12"/>
          <p:cNvSpPr/>
          <p:nvPr/>
        </p:nvSpPr>
        <p:spPr>
          <a:xfrm>
            <a:off x="4956048" y="2258568"/>
            <a:ext cx="3529584" cy="749808"/>
          </a:xfrm>
          <a:prstGeom prst="rect">
            <a:avLst/>
          </a:prstGeom>
          <a:solidFill>
            <a:srgbClr val="F3F4F6"/>
          </a:solidFill>
          <a:ln w="12700">
            <a:solidFill>
              <a:srgbClr val="F3F4F6"/>
            </a:solidFill>
            <a:prstDash val="solid"/>
          </a:ln>
        </p:spPr>
      </p:sp>
      <p:sp>
        <p:nvSpPr>
          <p:cNvPr id="15" name="Text 13"/>
          <p:cNvSpPr/>
          <p:nvPr/>
        </p:nvSpPr>
        <p:spPr>
          <a:xfrm>
            <a:off x="5029200" y="2276856"/>
            <a:ext cx="3383280" cy="713232"/>
          </a:xfrm>
          <a:prstGeom prst="rect">
            <a:avLst/>
          </a:prstGeom>
          <a:noFill/>
          <a:ln/>
        </p:spPr>
        <p:txBody>
          <a:bodyPr wrap="square" lIns="0" tIns="0" rIns="0" bIns="0" rtlCol="0" anchor="ctr"/>
          <a:lstStyle/>
          <a:p>
            <a:pPr algn="l" indent="0" marL="0">
              <a:buNone/>
            </a:pPr>
            <a:r>
              <a:rPr lang="en-US" sz="950" dirty="0">
                <a:solidFill>
                  <a:srgbClr val="111111"/>
                </a:solidFill>
                <a:latin typeface="Consolas" pitchFamily="34" charset="0"/>
                <a:ea typeface="Consolas" pitchFamily="34" charset="-122"/>
                <a:cs typeface="Consolas" pitchFamily="34" charset="-120"/>
              </a:rPr>
              <a:t>Node.js + Express + PostgreSQL.</a:t>
            </a:r>
            <a:endParaRPr lang="en-US" sz="950" dirty="0"/>
          </a:p>
          <a:p>
            <a:pPr algn="l" indent="0" marL="0">
              <a:buNone/>
            </a:pPr>
            <a:r>
              <a:rPr lang="en-US" sz="950" dirty="0">
                <a:solidFill>
                  <a:srgbClr val="111111"/>
                </a:solidFill>
                <a:latin typeface="Consolas" pitchFamily="34" charset="0"/>
                <a:ea typeface="Consolas" pitchFamily="34" charset="-122"/>
                <a:cs typeface="Consolas" pitchFamily="34" charset="-120"/>
              </a:rPr>
              <a:t>/api/users/:id → 500 when user missing.</a:t>
            </a:r>
            <a:endParaRPr lang="en-US" sz="950" dirty="0"/>
          </a:p>
          <a:p>
            <a:pPr algn="l" indent="0" marL="0">
              <a:buNone/>
            </a:pPr>
            <a:r>
              <a:rPr lang="en-US" sz="950" dirty="0">
                <a:solidFill>
                  <a:srgbClr val="111111"/>
                </a:solidFill>
                <a:latin typeface="Consolas" pitchFamily="34" charset="0"/>
                <a:ea typeface="Consolas" pitchFamily="34" charset="-122"/>
                <a:cs typeface="Consolas" pitchFamily="34" charset="-120"/>
              </a:rPr>
              <a:t>Fix: return 404 { error: "user_not_found" }</a:t>
            </a:r>
            <a:endParaRPr lang="en-US" sz="950" dirty="0"/>
          </a:p>
          <a:p>
            <a:pPr algn="l" indent="0" marL="0">
              <a:buNone/>
            </a:pPr>
            <a:r>
              <a:rPr lang="en-US" sz="950" dirty="0">
                <a:solidFill>
                  <a:srgbClr val="111111"/>
                </a:solidFill>
                <a:latin typeface="Consolas" pitchFamily="34" charset="0"/>
                <a:ea typeface="Consolas" pitchFamily="34" charset="-122"/>
                <a:cs typeface="Consolas" pitchFamily="34" charset="-120"/>
              </a:rPr>
              <a:t>No JWT/signature changes. Code only.</a:t>
            </a:r>
            <a:endParaRPr lang="en-US" sz="950" dirty="0"/>
          </a:p>
        </p:txBody>
      </p:sp>
      <p:sp>
        <p:nvSpPr>
          <p:cNvPr id="16" name="Text 14"/>
          <p:cNvSpPr/>
          <p:nvPr/>
        </p:nvSpPr>
        <p:spPr>
          <a:xfrm>
            <a:off x="5029200" y="3081528"/>
            <a:ext cx="3383280" cy="960120"/>
          </a:xfrm>
          <a:prstGeom prst="rect">
            <a:avLst/>
          </a:prstGeom>
          <a:noFill/>
          <a:ln/>
        </p:spPr>
        <p:txBody>
          <a:bodyPr wrap="square" lIns="0" tIns="0" rIns="0" bIns="0" rtlCol="0" anchor="ctr"/>
          <a:lstStyle/>
          <a:p>
            <a:pPr algn="l" indent="0" marL="0">
              <a:buNone/>
            </a:pPr>
            <a:r>
              <a:rPr lang="en-US" sz="950" dirty="0">
                <a:solidFill>
                  <a:srgbClr val="111111"/>
                </a:solidFill>
                <a:latin typeface="Consolas" pitchFamily="34" charset="0"/>
                <a:ea typeface="Consolas" pitchFamily="34" charset="-122"/>
                <a:cs typeface="Consolas" pitchFamily="34" charset="-120"/>
              </a:rPr>
              <a:t>try {</a:t>
            </a:r>
            <a:endParaRPr lang="en-US" sz="950" dirty="0"/>
          </a:p>
          <a:p>
            <a:pPr algn="l" indent="0" marL="0">
              <a:buNone/>
            </a:pPr>
            <a:r>
              <a:rPr lang="en-US" sz="950" dirty="0">
                <a:solidFill>
                  <a:srgbClr val="111111"/>
                </a:solidFill>
                <a:latin typeface="Consolas" pitchFamily="34" charset="0"/>
                <a:ea typeface="Consolas" pitchFamily="34" charset="-122"/>
                <a:cs typeface="Consolas" pitchFamily="34" charset="-120"/>
              </a:rPr>
              <a:t>  const user = await db.findById(id);</a:t>
            </a:r>
            <a:endParaRPr lang="en-US" sz="950" dirty="0"/>
          </a:p>
          <a:p>
            <a:pPr algn="l" indent="0" marL="0">
              <a:buNone/>
            </a:pPr>
            <a:r>
              <a:rPr lang="en-US" sz="950" dirty="0">
                <a:solidFill>
                  <a:srgbClr val="111111"/>
                </a:solidFill>
                <a:latin typeface="Consolas" pitchFamily="34" charset="0"/>
                <a:ea typeface="Consolas" pitchFamily="34" charset="-122"/>
                <a:cs typeface="Consolas" pitchFamily="34" charset="-120"/>
              </a:rPr>
              <a:t>  if (!user) return res.status(404)</a:t>
            </a:r>
            <a:endParaRPr lang="en-US" sz="950" dirty="0"/>
          </a:p>
          <a:p>
            <a:pPr algn="l" indent="0" marL="0">
              <a:buNone/>
            </a:pPr>
            <a:r>
              <a:rPr lang="en-US" sz="950" dirty="0">
                <a:solidFill>
                  <a:srgbClr val="111111"/>
                </a:solidFill>
                <a:latin typeface="Consolas" pitchFamily="34" charset="0"/>
                <a:ea typeface="Consolas" pitchFamily="34" charset="-122"/>
                <a:cs typeface="Consolas" pitchFamily="34" charset="-120"/>
              </a:rPr>
              <a:t>    .json({ error: "user_not_found" });</a:t>
            </a:r>
            <a:endParaRPr lang="en-US" sz="950" dirty="0"/>
          </a:p>
          <a:p>
            <a:pPr algn="l" indent="0" marL="0">
              <a:buNone/>
            </a:pPr>
            <a:r>
              <a:rPr lang="en-US" sz="950" dirty="0">
                <a:solidFill>
                  <a:srgbClr val="111111"/>
                </a:solidFill>
                <a:latin typeface="Consolas" pitchFamily="34" charset="0"/>
                <a:ea typeface="Consolas" pitchFamily="34" charset="-122"/>
                <a:cs typeface="Consolas" pitchFamily="34" charset="-120"/>
              </a:rPr>
              <a:t>}</a:t>
            </a:r>
            <a:endParaRPr lang="en-US" sz="950" dirty="0"/>
          </a:p>
        </p:txBody>
      </p:sp>
      <p:sp>
        <p:nvSpPr>
          <p:cNvPr id="17" name="Shape 15"/>
          <p:cNvSpPr/>
          <p:nvPr/>
        </p:nvSpPr>
        <p:spPr>
          <a:xfrm>
            <a:off x="502920" y="4352544"/>
            <a:ext cx="8138160" cy="0"/>
          </a:xfrm>
          <a:prstGeom prst="line">
            <a:avLst/>
          </a:prstGeom>
          <a:noFill/>
          <a:ln w="6350">
            <a:solidFill>
              <a:srgbClr val="E5E7EB"/>
            </a:solidFill>
            <a:prstDash val="solid"/>
          </a:ln>
        </p:spPr>
      </p:sp>
      <p:sp>
        <p:nvSpPr>
          <p:cNvPr id="18" name="Text 16"/>
          <p:cNvSpPr/>
          <p:nvPr/>
        </p:nvSpPr>
        <p:spPr>
          <a:xfrm>
            <a:off x="502920" y="4462272"/>
            <a:ext cx="393192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1. Name the file / function — don't describe it</a:t>
            </a:r>
            <a:endParaRPr lang="en-US" sz="1200" dirty="0"/>
          </a:p>
        </p:txBody>
      </p:sp>
      <p:sp>
        <p:nvSpPr>
          <p:cNvPr id="19" name="Text 17"/>
          <p:cNvSpPr/>
          <p:nvPr/>
        </p:nvSpPr>
        <p:spPr>
          <a:xfrm>
            <a:off x="502920" y="4700016"/>
            <a:ext cx="393192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2. State what you've already tried</a:t>
            </a:r>
            <a:endParaRPr lang="en-US" sz="1200" dirty="0"/>
          </a:p>
        </p:txBody>
      </p:sp>
      <p:sp>
        <p:nvSpPr>
          <p:cNvPr id="20" name="Text 18"/>
          <p:cNvSpPr/>
          <p:nvPr/>
        </p:nvSpPr>
        <p:spPr>
          <a:xfrm>
            <a:off x="502920" y="4937760"/>
            <a:ext cx="393192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3. Specify format: code only · bullet list · max 3 options</a:t>
            </a:r>
            <a:endParaRPr lang="en-US" sz="1200" dirty="0"/>
          </a:p>
        </p:txBody>
      </p:sp>
      <p:sp>
        <p:nvSpPr>
          <p:cNvPr id="21" name="Text 19"/>
          <p:cNvSpPr/>
          <p:nvPr/>
        </p:nvSpPr>
        <p:spPr>
          <a:xfrm>
            <a:off x="4617720" y="4462272"/>
            <a:ext cx="393192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4. One task per prompt — chained prompts drift</a:t>
            </a:r>
            <a:endParaRPr lang="en-US" sz="1200" dirty="0"/>
          </a:p>
        </p:txBody>
      </p:sp>
      <p:sp>
        <p:nvSpPr>
          <p:cNvPr id="22" name="Text 20"/>
          <p:cNvSpPr/>
          <p:nvPr/>
        </p:nvSpPr>
        <p:spPr>
          <a:xfrm>
            <a:off x="4617720" y="4700016"/>
            <a:ext cx="393192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5. Add constraints: what NOT to change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9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Don’t let the signal drop mid-journey.</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3749040" cy="2011680"/>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sp>
        <p:nvSpPr>
          <p:cNvPr id="6" name="Text 4"/>
          <p:cNvSpPr/>
          <p:nvPr/>
        </p:nvSpPr>
        <p:spPr>
          <a:xfrm>
            <a:off x="658368" y="1481328"/>
            <a:ext cx="3529584" cy="219456"/>
          </a:xfrm>
          <a:prstGeom prst="rect">
            <a:avLst/>
          </a:prstGeom>
          <a:noFill/>
          <a:ln/>
        </p:spPr>
        <p:txBody>
          <a:bodyPr wrap="square" lIns="0" tIns="0" rIns="0" bIns="0" rtlCol="0" anchor="ctr"/>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HIGH WASTE</a:t>
            </a:r>
            <a:endParaRPr lang="en-US" sz="900" dirty="0"/>
          </a:p>
        </p:txBody>
      </p:sp>
      <p:sp>
        <p:nvSpPr>
          <p:cNvPr id="7" name="Text 5"/>
          <p:cNvSpPr/>
          <p:nvPr/>
        </p:nvSpPr>
        <p:spPr>
          <a:xfrm>
            <a:off x="658368" y="1773936"/>
            <a:ext cx="3438144" cy="32918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Pasting 500 lines for a 3-line question</a:t>
            </a:r>
            <a:endParaRPr lang="en-US" sz="1200" dirty="0"/>
          </a:p>
        </p:txBody>
      </p:sp>
      <p:sp>
        <p:nvSpPr>
          <p:cNvPr id="8" name="Text 6"/>
          <p:cNvSpPr/>
          <p:nvPr/>
        </p:nvSpPr>
        <p:spPr>
          <a:xfrm>
            <a:off x="658368" y="2121408"/>
            <a:ext cx="3438144" cy="32918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Re-explaining context every session</a:t>
            </a:r>
            <a:endParaRPr lang="en-US" sz="1200" dirty="0"/>
          </a:p>
        </p:txBody>
      </p:sp>
      <p:sp>
        <p:nvSpPr>
          <p:cNvPr id="9" name="Text 7"/>
          <p:cNvSpPr/>
          <p:nvPr/>
        </p:nvSpPr>
        <p:spPr>
          <a:xfrm>
            <a:off x="658368" y="2468880"/>
            <a:ext cx="3438144" cy="32918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Vague questions → 3 clarifying rounds</a:t>
            </a:r>
            <a:endParaRPr lang="en-US" sz="1200" dirty="0"/>
          </a:p>
        </p:txBody>
      </p:sp>
      <p:sp>
        <p:nvSpPr>
          <p:cNvPr id="10" name="Text 8"/>
          <p:cNvSpPr/>
          <p:nvPr/>
        </p:nvSpPr>
        <p:spPr>
          <a:xfrm>
            <a:off x="658368" y="2816352"/>
            <a:ext cx="3438144" cy="32918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No CLAUDE.md → start from zero</a:t>
            </a:r>
            <a:endParaRPr lang="en-US" sz="1200" dirty="0"/>
          </a:p>
        </p:txBody>
      </p:sp>
      <p:sp>
        <p:nvSpPr>
          <p:cNvPr id="11" name="Shape 9"/>
          <p:cNvSpPr/>
          <p:nvPr/>
        </p:nvSpPr>
        <p:spPr>
          <a:xfrm>
            <a:off x="658368" y="2962656"/>
            <a:ext cx="3438144" cy="201168"/>
          </a:xfrm>
          <a:prstGeom prst="rect">
            <a:avLst/>
          </a:prstGeom>
          <a:solidFill>
            <a:srgbClr val="E9EAEC"/>
          </a:solidFill>
          <a:ln w="6350">
            <a:solidFill>
              <a:srgbClr val="D1D5DB"/>
            </a:solidFill>
            <a:prstDash val="solid"/>
          </a:ln>
        </p:spPr>
      </p:sp>
      <p:sp>
        <p:nvSpPr>
          <p:cNvPr id="12" name="Shape 10"/>
          <p:cNvSpPr/>
          <p:nvPr/>
        </p:nvSpPr>
        <p:spPr>
          <a:xfrm>
            <a:off x="658368" y="2962656"/>
            <a:ext cx="2819278" cy="201168"/>
          </a:xfrm>
          <a:prstGeom prst="rect">
            <a:avLst/>
          </a:prstGeom>
          <a:solidFill>
            <a:srgbClr val="6B7280"/>
          </a:solidFill>
          <a:ln w="12700">
            <a:solidFill>
              <a:srgbClr val="6B7280"/>
            </a:solidFill>
            <a:prstDash val="solid"/>
          </a:ln>
        </p:spPr>
      </p:sp>
      <p:sp>
        <p:nvSpPr>
          <p:cNvPr id="13" name="Text 11"/>
          <p:cNvSpPr/>
          <p:nvPr/>
        </p:nvSpPr>
        <p:spPr>
          <a:xfrm>
            <a:off x="749808" y="2962656"/>
            <a:ext cx="3346704" cy="2011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Context: 82% used</a:t>
            </a:r>
            <a:endParaRPr lang="en-US" sz="900" dirty="0"/>
          </a:p>
        </p:txBody>
      </p:sp>
      <p:sp>
        <p:nvSpPr>
          <p:cNvPr id="14" name="Shape 12"/>
          <p:cNvSpPr/>
          <p:nvPr/>
        </p:nvSpPr>
        <p:spPr>
          <a:xfrm>
            <a:off x="4983480" y="1389888"/>
            <a:ext cx="3749040" cy="2011680"/>
          </a:xfrm>
          <a:prstGeom prst="rect">
            <a:avLst/>
          </a:prstGeom>
          <a:solidFill>
            <a:srgbClr val="FFFFFF"/>
          </a:solidFill>
          <a:ln w="6350">
            <a:solidFill>
              <a:srgbClr val="111111"/>
            </a:solidFill>
            <a:prstDash val="solid"/>
          </a:ln>
          <a:effectLst>
            <a:outerShdw sx="100000" sy="100000" kx="0" ky="0" algn="bl" rotWithShape="0" blurRad="63500" dist="25400" dir="8100000">
              <a:srgbClr val="000000">
                <a:alpha val="7000"/>
              </a:srgbClr>
            </a:outerShdw>
          </a:effectLst>
        </p:spPr>
      </p:sp>
      <p:sp>
        <p:nvSpPr>
          <p:cNvPr id="15" name="Text 13"/>
          <p:cNvSpPr/>
          <p:nvPr/>
        </p:nvSpPr>
        <p:spPr>
          <a:xfrm>
            <a:off x="5138928" y="1481328"/>
            <a:ext cx="3529584" cy="219456"/>
          </a:xfrm>
          <a:prstGeom prst="rect">
            <a:avLst/>
          </a:prstGeom>
          <a:noFill/>
          <a:ln/>
        </p:spPr>
        <p:txBody>
          <a:bodyPr wrap="square" lIns="0" tIns="0" rIns="0" bIns="0" rtlCol="0" anchor="ctr"/>
          <a:lstStyle/>
          <a:p>
            <a:pPr algn="l" indent="0" marL="0">
              <a:buNone/>
            </a:pPr>
            <a:r>
              <a:rPr lang="en-US" sz="900" b="1" spc="100" kern="0" dirty="0">
                <a:solidFill>
                  <a:srgbClr val="111111"/>
                </a:solidFill>
                <a:latin typeface="Calibri" pitchFamily="34" charset="0"/>
                <a:ea typeface="Calibri" pitchFamily="34" charset="-122"/>
                <a:cs typeface="Calibri" pitchFamily="34" charset="-120"/>
              </a:rPr>
              <a:t>STRONG SIGNAL</a:t>
            </a:r>
            <a:endParaRPr lang="en-US" sz="900" dirty="0"/>
          </a:p>
        </p:txBody>
      </p:sp>
      <p:sp>
        <p:nvSpPr>
          <p:cNvPr id="16" name="Text 14"/>
          <p:cNvSpPr/>
          <p:nvPr/>
        </p:nvSpPr>
        <p:spPr>
          <a:xfrm>
            <a:off x="5138928" y="1773936"/>
            <a:ext cx="3438144" cy="329184"/>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 /compact before context fills → 60% back</a:t>
            </a:r>
            <a:endParaRPr lang="en-US" sz="1200" dirty="0"/>
          </a:p>
        </p:txBody>
      </p:sp>
      <p:sp>
        <p:nvSpPr>
          <p:cNvPr id="17" name="Text 15"/>
          <p:cNvSpPr/>
          <p:nvPr/>
        </p:nvSpPr>
        <p:spPr>
          <a:xfrm>
            <a:off x="5138928" y="2121408"/>
            <a:ext cx="3438144" cy="329184"/>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 /clear when switching tasks</a:t>
            </a:r>
            <a:endParaRPr lang="en-US" sz="1200" dirty="0"/>
          </a:p>
        </p:txBody>
      </p:sp>
      <p:sp>
        <p:nvSpPr>
          <p:cNvPr id="18" name="Text 16"/>
          <p:cNvSpPr/>
          <p:nvPr/>
        </p:nvSpPr>
        <p:spPr>
          <a:xfrm>
            <a:off x="5138928" y="2468880"/>
            <a:ext cx="3438144" cy="329184"/>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 Reference line numbers, not whole files</a:t>
            </a:r>
            <a:endParaRPr lang="en-US" sz="1200" dirty="0"/>
          </a:p>
        </p:txBody>
      </p:sp>
      <p:sp>
        <p:nvSpPr>
          <p:cNvPr id="19" name="Text 17"/>
          <p:cNvSpPr/>
          <p:nvPr/>
        </p:nvSpPr>
        <p:spPr>
          <a:xfrm>
            <a:off x="5138928" y="2816352"/>
            <a:ext cx="3438144" cy="329184"/>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 One task per prompt</a:t>
            </a:r>
            <a:endParaRPr lang="en-US" sz="1200" dirty="0"/>
          </a:p>
        </p:txBody>
      </p:sp>
      <p:sp>
        <p:nvSpPr>
          <p:cNvPr id="20" name="Shape 18"/>
          <p:cNvSpPr/>
          <p:nvPr/>
        </p:nvSpPr>
        <p:spPr>
          <a:xfrm>
            <a:off x="5138928" y="2962656"/>
            <a:ext cx="3438144" cy="201168"/>
          </a:xfrm>
          <a:prstGeom prst="rect">
            <a:avLst/>
          </a:prstGeom>
          <a:solidFill>
            <a:srgbClr val="E9EAEC"/>
          </a:solidFill>
          <a:ln w="6350">
            <a:solidFill>
              <a:srgbClr val="D1D5DB"/>
            </a:solidFill>
            <a:prstDash val="solid"/>
          </a:ln>
        </p:spPr>
      </p:sp>
      <p:sp>
        <p:nvSpPr>
          <p:cNvPr id="21" name="Shape 19"/>
          <p:cNvSpPr/>
          <p:nvPr/>
        </p:nvSpPr>
        <p:spPr>
          <a:xfrm>
            <a:off x="5138928" y="2962656"/>
            <a:ext cx="962680" cy="201168"/>
          </a:xfrm>
          <a:prstGeom prst="rect">
            <a:avLst/>
          </a:prstGeom>
          <a:solidFill>
            <a:srgbClr val="111111"/>
          </a:solidFill>
          <a:ln w="12700">
            <a:solidFill>
              <a:srgbClr val="111111"/>
            </a:solidFill>
            <a:prstDash val="solid"/>
          </a:ln>
        </p:spPr>
      </p:sp>
      <p:sp>
        <p:nvSpPr>
          <p:cNvPr id="22" name="Text 20"/>
          <p:cNvSpPr/>
          <p:nvPr/>
        </p:nvSpPr>
        <p:spPr>
          <a:xfrm>
            <a:off x="5230368" y="2962656"/>
            <a:ext cx="3346704" cy="2011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Context: 28% used</a:t>
            </a:r>
            <a:endParaRPr lang="en-US" sz="900" dirty="0"/>
          </a:p>
        </p:txBody>
      </p:sp>
      <p:sp>
        <p:nvSpPr>
          <p:cNvPr id="23" name="Shape 21"/>
          <p:cNvSpPr/>
          <p:nvPr/>
        </p:nvSpPr>
        <p:spPr>
          <a:xfrm>
            <a:off x="502920" y="3584448"/>
            <a:ext cx="8138160" cy="0"/>
          </a:xfrm>
          <a:prstGeom prst="line">
            <a:avLst/>
          </a:prstGeom>
          <a:noFill/>
          <a:ln w="6350">
            <a:solidFill>
              <a:srgbClr val="E5E7EB"/>
            </a:solidFill>
            <a:prstDash val="solid"/>
          </a:ln>
        </p:spPr>
      </p:sp>
      <p:sp>
        <p:nvSpPr>
          <p:cNvPr id="24" name="Shape 22"/>
          <p:cNvSpPr/>
          <p:nvPr/>
        </p:nvSpPr>
        <p:spPr>
          <a:xfrm>
            <a:off x="502920" y="3675888"/>
            <a:ext cx="8138160" cy="274320"/>
          </a:xfrm>
          <a:prstGeom prst="rect">
            <a:avLst/>
          </a:prstGeom>
          <a:solidFill>
            <a:srgbClr val="111111"/>
          </a:solidFill>
          <a:ln w="12700">
            <a:solidFill>
              <a:srgbClr val="111111"/>
            </a:solidFill>
            <a:prstDash val="solid"/>
          </a:ln>
        </p:spPr>
      </p:sp>
      <p:sp>
        <p:nvSpPr>
          <p:cNvPr id="25" name="Text 23"/>
          <p:cNvSpPr/>
          <p:nvPr/>
        </p:nvSpPr>
        <p:spPr>
          <a:xfrm>
            <a:off x="612648" y="3675888"/>
            <a:ext cx="1170432" cy="274320"/>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26" name="Text 24"/>
          <p:cNvSpPr/>
          <p:nvPr/>
        </p:nvSpPr>
        <p:spPr>
          <a:xfrm>
            <a:off x="1892808" y="3675888"/>
            <a:ext cx="5468112" cy="274320"/>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Use for</a:t>
            </a:r>
            <a:endParaRPr lang="en-US" sz="900" dirty="0"/>
          </a:p>
        </p:txBody>
      </p:sp>
      <p:sp>
        <p:nvSpPr>
          <p:cNvPr id="27" name="Text 25"/>
          <p:cNvSpPr/>
          <p:nvPr/>
        </p:nvSpPr>
        <p:spPr>
          <a:xfrm>
            <a:off x="7470648" y="3675888"/>
            <a:ext cx="1170432" cy="274320"/>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Cost</a:t>
            </a:r>
            <a:endParaRPr lang="en-US" sz="900" dirty="0"/>
          </a:p>
        </p:txBody>
      </p:sp>
      <p:sp>
        <p:nvSpPr>
          <p:cNvPr id="28" name="Shape 26"/>
          <p:cNvSpPr/>
          <p:nvPr/>
        </p:nvSpPr>
        <p:spPr>
          <a:xfrm>
            <a:off x="502920" y="3950208"/>
            <a:ext cx="8138160" cy="384048"/>
          </a:xfrm>
          <a:prstGeom prst="rect">
            <a:avLst/>
          </a:prstGeom>
          <a:solidFill>
            <a:srgbClr val="FFFFFF"/>
          </a:solidFill>
          <a:ln w="6350">
            <a:solidFill>
              <a:srgbClr val="E5E7EB"/>
            </a:solidFill>
            <a:prstDash val="solid"/>
          </a:ln>
        </p:spPr>
      </p:sp>
      <p:sp>
        <p:nvSpPr>
          <p:cNvPr id="29" name="Text 27"/>
          <p:cNvSpPr/>
          <p:nvPr/>
        </p:nvSpPr>
        <p:spPr>
          <a:xfrm>
            <a:off x="612648" y="3986784"/>
            <a:ext cx="1115568" cy="310896"/>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Haiku</a:t>
            </a:r>
            <a:endParaRPr lang="en-US" sz="1200" dirty="0"/>
          </a:p>
        </p:txBody>
      </p:sp>
      <p:sp>
        <p:nvSpPr>
          <p:cNvPr id="30" name="Text 28"/>
          <p:cNvSpPr/>
          <p:nvPr/>
        </p:nvSpPr>
        <p:spPr>
          <a:xfrm>
            <a:off x="1892808" y="3986784"/>
            <a:ext cx="5413248"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Repetitive tasks · test gen · summaries</a:t>
            </a:r>
            <a:endParaRPr lang="en-US" sz="1200" dirty="0"/>
          </a:p>
        </p:txBody>
      </p:sp>
      <p:sp>
        <p:nvSpPr>
          <p:cNvPr id="31" name="Text 29"/>
          <p:cNvSpPr/>
          <p:nvPr/>
        </p:nvSpPr>
        <p:spPr>
          <a:xfrm>
            <a:off x="7470648" y="3986784"/>
            <a:ext cx="1115568"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Low</a:t>
            </a:r>
            <a:endParaRPr lang="en-US" sz="1200" dirty="0"/>
          </a:p>
        </p:txBody>
      </p:sp>
      <p:sp>
        <p:nvSpPr>
          <p:cNvPr id="32" name="Shape 30"/>
          <p:cNvSpPr/>
          <p:nvPr/>
        </p:nvSpPr>
        <p:spPr>
          <a:xfrm>
            <a:off x="502920" y="4334256"/>
            <a:ext cx="8138160" cy="384048"/>
          </a:xfrm>
          <a:prstGeom prst="rect">
            <a:avLst/>
          </a:prstGeom>
          <a:solidFill>
            <a:srgbClr val="F3F4F6"/>
          </a:solidFill>
          <a:ln w="6350">
            <a:solidFill>
              <a:srgbClr val="E5E7EB"/>
            </a:solidFill>
            <a:prstDash val="solid"/>
          </a:ln>
        </p:spPr>
      </p:sp>
      <p:sp>
        <p:nvSpPr>
          <p:cNvPr id="33" name="Text 31"/>
          <p:cNvSpPr/>
          <p:nvPr/>
        </p:nvSpPr>
        <p:spPr>
          <a:xfrm>
            <a:off x="612648" y="4370832"/>
            <a:ext cx="1115568" cy="310896"/>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Sonnet</a:t>
            </a:r>
            <a:endParaRPr lang="en-US" sz="1200" dirty="0"/>
          </a:p>
        </p:txBody>
      </p:sp>
      <p:sp>
        <p:nvSpPr>
          <p:cNvPr id="34" name="Text 32"/>
          <p:cNvSpPr/>
          <p:nvPr/>
        </p:nvSpPr>
        <p:spPr>
          <a:xfrm>
            <a:off x="1892808" y="4370832"/>
            <a:ext cx="5413248"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Most dev tasks — best quality / cost balance</a:t>
            </a:r>
            <a:endParaRPr lang="en-US" sz="1200" dirty="0"/>
          </a:p>
        </p:txBody>
      </p:sp>
      <p:sp>
        <p:nvSpPr>
          <p:cNvPr id="35" name="Text 33"/>
          <p:cNvSpPr/>
          <p:nvPr/>
        </p:nvSpPr>
        <p:spPr>
          <a:xfrm>
            <a:off x="7470648" y="4370832"/>
            <a:ext cx="1115568"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Medium</a:t>
            </a:r>
            <a:endParaRPr lang="en-US" sz="1200" dirty="0"/>
          </a:p>
        </p:txBody>
      </p:sp>
      <p:sp>
        <p:nvSpPr>
          <p:cNvPr id="36" name="Shape 34"/>
          <p:cNvSpPr/>
          <p:nvPr/>
        </p:nvSpPr>
        <p:spPr>
          <a:xfrm>
            <a:off x="502920" y="4718304"/>
            <a:ext cx="8138160" cy="384048"/>
          </a:xfrm>
          <a:prstGeom prst="rect">
            <a:avLst/>
          </a:prstGeom>
          <a:solidFill>
            <a:srgbClr val="FFFFFF"/>
          </a:solidFill>
          <a:ln w="6350">
            <a:solidFill>
              <a:srgbClr val="E5E7EB"/>
            </a:solidFill>
            <a:prstDash val="solid"/>
          </a:ln>
        </p:spPr>
      </p:sp>
      <p:sp>
        <p:nvSpPr>
          <p:cNvPr id="37" name="Text 35"/>
          <p:cNvSpPr/>
          <p:nvPr/>
        </p:nvSpPr>
        <p:spPr>
          <a:xfrm>
            <a:off x="612648" y="4754880"/>
            <a:ext cx="1115568" cy="310896"/>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Opus</a:t>
            </a:r>
            <a:endParaRPr lang="en-US" sz="1200" dirty="0"/>
          </a:p>
        </p:txBody>
      </p:sp>
      <p:sp>
        <p:nvSpPr>
          <p:cNvPr id="38" name="Text 36"/>
          <p:cNvSpPr/>
          <p:nvPr/>
        </p:nvSpPr>
        <p:spPr>
          <a:xfrm>
            <a:off x="1892808" y="4754880"/>
            <a:ext cx="5413248"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Architecture · complex reasoning only</a:t>
            </a:r>
            <a:endParaRPr lang="en-US" sz="1200" dirty="0"/>
          </a:p>
        </p:txBody>
      </p:sp>
      <p:sp>
        <p:nvSpPr>
          <p:cNvPr id="39" name="Text 37"/>
          <p:cNvSpPr/>
          <p:nvPr/>
        </p:nvSpPr>
        <p:spPr>
          <a:xfrm>
            <a:off x="7470648" y="4754880"/>
            <a:ext cx="1115568" cy="310896"/>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High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10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AI knows the route before you say a word.</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4023360" cy="3291840"/>
          </a:xfrm>
          <a:prstGeom prst="rect">
            <a:avLst/>
          </a:prstGeom>
          <a:solidFill>
            <a:srgbClr val="1E1E1E"/>
          </a:solidFill>
          <a:ln w="12700">
            <a:solidFill>
              <a:srgbClr val="1E1E1E"/>
            </a:solidFill>
            <a:prstDash val="solid"/>
          </a:ln>
        </p:spPr>
      </p:sp>
      <p:sp>
        <p:nvSpPr>
          <p:cNvPr id="6" name="Text 4"/>
          <p:cNvSpPr/>
          <p:nvPr/>
        </p:nvSpPr>
        <p:spPr>
          <a:xfrm>
            <a:off x="658368" y="1508760"/>
            <a:ext cx="3566160" cy="274320"/>
          </a:xfrm>
          <a:prstGeom prst="rect">
            <a:avLst/>
          </a:prstGeom>
          <a:noFill/>
          <a:ln/>
        </p:spPr>
        <p:txBody>
          <a:bodyPr wrap="square" lIns="0" tIns="0" rIns="0" bIns="0" rtlCol="0" anchor="ctr"/>
          <a:lstStyle/>
          <a:p>
            <a:pPr algn="l" indent="0" marL="0">
              <a:buNone/>
            </a:pPr>
            <a:r>
              <a:rPr lang="en-US" sz="1100" dirty="0">
                <a:solidFill>
                  <a:srgbClr val="9CDCFE"/>
                </a:solidFill>
                <a:latin typeface="Consolas" pitchFamily="34" charset="0"/>
                <a:ea typeface="Consolas" pitchFamily="34" charset="-122"/>
                <a:cs typeface="Consolas" pitchFamily="34" charset="-120"/>
              </a:rPr>
              <a:t>project/</a:t>
            </a:r>
            <a:endParaRPr lang="en-US" sz="1100" dirty="0"/>
          </a:p>
        </p:txBody>
      </p:sp>
      <p:sp>
        <p:nvSpPr>
          <p:cNvPr id="7" name="Text 5"/>
          <p:cNvSpPr/>
          <p:nvPr/>
        </p:nvSpPr>
        <p:spPr>
          <a:xfrm>
            <a:off x="859536" y="1819656"/>
            <a:ext cx="3566160" cy="274320"/>
          </a:xfrm>
          <a:prstGeom prst="rect">
            <a:avLst/>
          </a:prstGeom>
          <a:noFill/>
          <a:ln/>
        </p:spPr>
        <p:txBody>
          <a:bodyPr wrap="square" lIns="0" tIns="0" rIns="0" bIns="0" rtlCol="0" anchor="ctr"/>
          <a:lstStyle/>
          <a:p>
            <a:pPr algn="l" indent="0" marL="0">
              <a:buNone/>
            </a:pPr>
            <a:r>
              <a:rPr lang="en-US" sz="1100" dirty="0">
                <a:solidFill>
                  <a:srgbClr val="CE9178"/>
                </a:solidFill>
                <a:latin typeface="Consolas" pitchFamily="34" charset="0"/>
                <a:ea typeface="Consolas" pitchFamily="34" charset="-122"/>
                <a:cs typeface="Consolas" pitchFamily="34" charset="-120"/>
              </a:rPr>
              <a:t>CLAUDE.md</a:t>
            </a:r>
            <a:endParaRPr lang="en-US" sz="1100" dirty="0"/>
          </a:p>
        </p:txBody>
      </p:sp>
      <p:sp>
        <p:nvSpPr>
          <p:cNvPr id="8" name="Text 6"/>
          <p:cNvSpPr/>
          <p:nvPr/>
        </p:nvSpPr>
        <p:spPr>
          <a:xfrm>
            <a:off x="859536" y="2130552"/>
            <a:ext cx="3566160" cy="274320"/>
          </a:xfrm>
          <a:prstGeom prst="rect">
            <a:avLst/>
          </a:prstGeom>
          <a:noFill/>
          <a:ln/>
        </p:spPr>
        <p:txBody>
          <a:bodyPr wrap="square" lIns="0" tIns="0" rIns="0" bIns="0" rtlCol="0" anchor="ctr"/>
          <a:lstStyle/>
          <a:p>
            <a:pPr algn="l" indent="0" marL="0">
              <a:buNone/>
            </a:pPr>
            <a:r>
              <a:rPr lang="en-US" sz="1100" dirty="0">
                <a:solidFill>
                  <a:srgbClr val="CE9178"/>
                </a:solidFill>
                <a:latin typeface="Consolas" pitchFamily="34" charset="0"/>
                <a:ea typeface="Consolas" pitchFamily="34" charset="-122"/>
                <a:cs typeface="Consolas" pitchFamily="34" charset="-120"/>
              </a:rPr>
              <a:t>.cursorrules</a:t>
            </a:r>
            <a:endParaRPr lang="en-US" sz="1100" dirty="0"/>
          </a:p>
        </p:txBody>
      </p:sp>
      <p:sp>
        <p:nvSpPr>
          <p:cNvPr id="9" name="Text 7"/>
          <p:cNvSpPr/>
          <p:nvPr/>
        </p:nvSpPr>
        <p:spPr>
          <a:xfrm>
            <a:off x="859536" y="2441448"/>
            <a:ext cx="3566160" cy="274320"/>
          </a:xfrm>
          <a:prstGeom prst="rect">
            <a:avLst/>
          </a:prstGeom>
          <a:noFill/>
          <a:ln/>
        </p:spPr>
        <p:txBody>
          <a:bodyPr wrap="square" lIns="0" tIns="0" rIns="0" bIns="0" rtlCol="0" anchor="ctr"/>
          <a:lstStyle/>
          <a:p>
            <a:pPr algn="l" indent="0" marL="0">
              <a:buNone/>
            </a:pPr>
            <a:r>
              <a:rPr lang="en-US" sz="1100" dirty="0">
                <a:solidFill>
                  <a:srgbClr val="9CDCFE"/>
                </a:solidFill>
                <a:latin typeface="Consolas" pitchFamily="34" charset="0"/>
                <a:ea typeface="Consolas" pitchFamily="34" charset="-122"/>
                <a:cs typeface="Consolas" pitchFamily="34" charset="-120"/>
              </a:rPr>
              <a:t>.claude/</a:t>
            </a:r>
            <a:endParaRPr lang="en-US" sz="1100" dirty="0"/>
          </a:p>
        </p:txBody>
      </p:sp>
      <p:sp>
        <p:nvSpPr>
          <p:cNvPr id="10" name="Text 8"/>
          <p:cNvSpPr/>
          <p:nvPr/>
        </p:nvSpPr>
        <p:spPr>
          <a:xfrm>
            <a:off x="1060704" y="2752344"/>
            <a:ext cx="3566160" cy="274320"/>
          </a:xfrm>
          <a:prstGeom prst="rect">
            <a:avLst/>
          </a:prstGeom>
          <a:noFill/>
          <a:ln/>
        </p:spPr>
        <p:txBody>
          <a:bodyPr wrap="square" lIns="0" tIns="0" rIns="0" bIns="0" rtlCol="0" anchor="ctr"/>
          <a:lstStyle/>
          <a:p>
            <a:pPr algn="l" indent="0" marL="0">
              <a:buNone/>
            </a:pPr>
            <a:r>
              <a:rPr lang="en-US" sz="1100" dirty="0">
                <a:solidFill>
                  <a:srgbClr val="9CDCFE"/>
                </a:solidFill>
                <a:latin typeface="Consolas" pitchFamily="34" charset="0"/>
                <a:ea typeface="Consolas" pitchFamily="34" charset="-122"/>
                <a:cs typeface="Consolas" pitchFamily="34" charset="-120"/>
              </a:rPr>
              <a:t>agents/</a:t>
            </a:r>
            <a:endParaRPr lang="en-US" sz="1100" dirty="0"/>
          </a:p>
        </p:txBody>
      </p:sp>
      <p:sp>
        <p:nvSpPr>
          <p:cNvPr id="11" name="Text 9"/>
          <p:cNvSpPr/>
          <p:nvPr/>
        </p:nvSpPr>
        <p:spPr>
          <a:xfrm>
            <a:off x="1261872" y="3063240"/>
            <a:ext cx="3566160" cy="274320"/>
          </a:xfrm>
          <a:prstGeom prst="rect">
            <a:avLst/>
          </a:prstGeom>
          <a:noFill/>
          <a:ln/>
        </p:spPr>
        <p:txBody>
          <a:bodyPr wrap="square" lIns="0" tIns="0" rIns="0" bIns="0" rtlCol="0" anchor="ctr"/>
          <a:lstStyle/>
          <a:p>
            <a:pPr algn="l" indent="0" marL="0">
              <a:buNone/>
            </a:pPr>
            <a:r>
              <a:rPr lang="en-US" sz="1100" dirty="0">
                <a:solidFill>
                  <a:srgbClr val="4EC9B0"/>
                </a:solidFill>
                <a:latin typeface="Consolas" pitchFamily="34" charset="0"/>
                <a:ea typeface="Consolas" pitchFamily="34" charset="-122"/>
                <a:cs typeface="Consolas" pitchFamily="34" charset="-120"/>
              </a:rPr>
              <a:t>code-reviewer.md</a:t>
            </a:r>
            <a:endParaRPr lang="en-US" sz="1100" dirty="0"/>
          </a:p>
        </p:txBody>
      </p:sp>
      <p:sp>
        <p:nvSpPr>
          <p:cNvPr id="12" name="Text 10"/>
          <p:cNvSpPr/>
          <p:nvPr/>
        </p:nvSpPr>
        <p:spPr>
          <a:xfrm>
            <a:off x="1261872" y="3374136"/>
            <a:ext cx="3566160" cy="274320"/>
          </a:xfrm>
          <a:prstGeom prst="rect">
            <a:avLst/>
          </a:prstGeom>
          <a:noFill/>
          <a:ln/>
        </p:spPr>
        <p:txBody>
          <a:bodyPr wrap="square" lIns="0" tIns="0" rIns="0" bIns="0" rtlCol="0" anchor="ctr"/>
          <a:lstStyle/>
          <a:p>
            <a:pPr algn="l" indent="0" marL="0">
              <a:buNone/>
            </a:pPr>
            <a:r>
              <a:rPr lang="en-US" sz="1100" dirty="0">
                <a:solidFill>
                  <a:srgbClr val="4EC9B0"/>
                </a:solidFill>
                <a:latin typeface="Consolas" pitchFamily="34" charset="0"/>
                <a:ea typeface="Consolas" pitchFamily="34" charset="-122"/>
                <a:cs typeface="Consolas" pitchFamily="34" charset="-120"/>
              </a:rPr>
              <a:t>test-generator.md</a:t>
            </a:r>
            <a:endParaRPr lang="en-US" sz="1100" dirty="0"/>
          </a:p>
        </p:txBody>
      </p:sp>
      <p:sp>
        <p:nvSpPr>
          <p:cNvPr id="13" name="Text 11"/>
          <p:cNvSpPr/>
          <p:nvPr/>
        </p:nvSpPr>
        <p:spPr>
          <a:xfrm>
            <a:off x="1060704" y="3685032"/>
            <a:ext cx="3566160" cy="274320"/>
          </a:xfrm>
          <a:prstGeom prst="rect">
            <a:avLst/>
          </a:prstGeom>
          <a:noFill/>
          <a:ln/>
        </p:spPr>
        <p:txBody>
          <a:bodyPr wrap="square" lIns="0" tIns="0" rIns="0" bIns="0" rtlCol="0" anchor="ctr"/>
          <a:lstStyle/>
          <a:p>
            <a:pPr algn="l" indent="0" marL="0">
              <a:buNone/>
            </a:pPr>
            <a:r>
              <a:rPr lang="en-US" sz="1100" dirty="0">
                <a:solidFill>
                  <a:srgbClr val="9CDCFE"/>
                </a:solidFill>
                <a:latin typeface="Consolas" pitchFamily="34" charset="0"/>
                <a:ea typeface="Consolas" pitchFamily="34" charset="-122"/>
                <a:cs typeface="Consolas" pitchFamily="34" charset="-120"/>
              </a:rPr>
              <a:t>commands/</a:t>
            </a:r>
            <a:endParaRPr lang="en-US" sz="1100" dirty="0"/>
          </a:p>
        </p:txBody>
      </p:sp>
      <p:sp>
        <p:nvSpPr>
          <p:cNvPr id="14" name="Text 12"/>
          <p:cNvSpPr/>
          <p:nvPr/>
        </p:nvSpPr>
        <p:spPr>
          <a:xfrm>
            <a:off x="1261872" y="3995928"/>
            <a:ext cx="3566160" cy="274320"/>
          </a:xfrm>
          <a:prstGeom prst="rect">
            <a:avLst/>
          </a:prstGeom>
          <a:noFill/>
          <a:ln/>
        </p:spPr>
        <p:txBody>
          <a:bodyPr wrap="square" lIns="0" tIns="0" rIns="0" bIns="0" rtlCol="0" anchor="ctr"/>
          <a:lstStyle/>
          <a:p>
            <a:pPr algn="l" indent="0" marL="0">
              <a:buNone/>
            </a:pPr>
            <a:r>
              <a:rPr lang="en-US" sz="1100" dirty="0">
                <a:solidFill>
                  <a:srgbClr val="4EC9B0"/>
                </a:solidFill>
                <a:latin typeface="Consolas" pitchFamily="34" charset="0"/>
                <a:ea typeface="Consolas" pitchFamily="34" charset="-122"/>
                <a:cs typeface="Consolas" pitchFamily="34" charset="-120"/>
              </a:rPr>
              <a:t>review.md</a:t>
            </a:r>
            <a:endParaRPr lang="en-US" sz="1100" dirty="0"/>
          </a:p>
        </p:txBody>
      </p:sp>
      <p:sp>
        <p:nvSpPr>
          <p:cNvPr id="15" name="Shape 13"/>
          <p:cNvSpPr/>
          <p:nvPr/>
        </p:nvSpPr>
        <p:spPr>
          <a:xfrm>
            <a:off x="4754880" y="1819656"/>
            <a:ext cx="182880" cy="0"/>
          </a:xfrm>
          <a:prstGeom prst="line">
            <a:avLst/>
          </a:prstGeom>
          <a:noFill/>
          <a:ln w="6350">
            <a:solidFill>
              <a:srgbClr val="6B7280"/>
            </a:solidFill>
            <a:prstDash val="solid"/>
          </a:ln>
        </p:spPr>
      </p:sp>
      <p:sp>
        <p:nvSpPr>
          <p:cNvPr id="16" name="Text 14"/>
          <p:cNvSpPr/>
          <p:nvPr/>
        </p:nvSpPr>
        <p:spPr>
          <a:xfrm>
            <a:off x="5029200" y="1691640"/>
            <a:ext cx="3657600" cy="23774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CLAUDE.md</a:t>
            </a:r>
            <a:endParaRPr lang="en-US" sz="1200" dirty="0"/>
          </a:p>
        </p:txBody>
      </p:sp>
      <p:sp>
        <p:nvSpPr>
          <p:cNvPr id="17" name="Text 15"/>
          <p:cNvSpPr/>
          <p:nvPr/>
        </p:nvSpPr>
        <p:spPr>
          <a:xfrm>
            <a:off x="5029200" y="1929384"/>
            <a:ext cx="36576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Claude's route preference</a:t>
            </a:r>
            <a:endParaRPr lang="en-US" sz="1000" dirty="0"/>
          </a:p>
          <a:p>
            <a:pPr algn="l" indent="0" marL="0">
              <a:buNone/>
            </a:pPr>
            <a:r>
              <a:rPr lang="en-US" sz="1000" dirty="0">
                <a:solidFill>
                  <a:srgbClr val="6B7280"/>
                </a:solidFill>
                <a:latin typeface="Calibri" pitchFamily="34" charset="0"/>
                <a:ea typeface="Calibri" pitchFamily="34" charset="-122"/>
                <a:cs typeface="Calibri" pitchFamily="34" charset="-120"/>
              </a:rPr>
              <a:t>Stack · patterns · off-limits zones</a:t>
            </a:r>
            <a:endParaRPr lang="en-US" sz="1000" dirty="0"/>
          </a:p>
        </p:txBody>
      </p:sp>
      <p:sp>
        <p:nvSpPr>
          <p:cNvPr id="18" name="Shape 16"/>
          <p:cNvSpPr/>
          <p:nvPr/>
        </p:nvSpPr>
        <p:spPr>
          <a:xfrm>
            <a:off x="4754880" y="2459736"/>
            <a:ext cx="182880" cy="0"/>
          </a:xfrm>
          <a:prstGeom prst="line">
            <a:avLst/>
          </a:prstGeom>
          <a:noFill/>
          <a:ln w="6350">
            <a:solidFill>
              <a:srgbClr val="6B7280"/>
            </a:solidFill>
            <a:prstDash val="solid"/>
          </a:ln>
        </p:spPr>
      </p:sp>
      <p:sp>
        <p:nvSpPr>
          <p:cNvPr id="19" name="Text 17"/>
          <p:cNvSpPr/>
          <p:nvPr/>
        </p:nvSpPr>
        <p:spPr>
          <a:xfrm>
            <a:off x="5029200" y="2331720"/>
            <a:ext cx="3657600" cy="23774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.cursorrules</a:t>
            </a:r>
            <a:endParaRPr lang="en-US" sz="1200" dirty="0"/>
          </a:p>
        </p:txBody>
      </p:sp>
      <p:sp>
        <p:nvSpPr>
          <p:cNvPr id="20" name="Text 18"/>
          <p:cNvSpPr/>
          <p:nvPr/>
        </p:nvSpPr>
        <p:spPr>
          <a:xfrm>
            <a:off x="5029200" y="2569464"/>
            <a:ext cx="36576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Cursor's driving style</a:t>
            </a:r>
            <a:endParaRPr lang="en-US" sz="1000" dirty="0"/>
          </a:p>
          <a:p>
            <a:pPr algn="l" indent="0" marL="0">
              <a:buNone/>
            </a:pPr>
            <a:r>
              <a:rPr lang="en-US" sz="1000" dirty="0">
                <a:solidFill>
                  <a:srgbClr val="6B7280"/>
                </a:solidFill>
                <a:latin typeface="Calibri" pitchFamily="34" charset="0"/>
                <a:ea typeface="Calibri" pitchFamily="34" charset="-122"/>
                <a:cs typeface="Calibri" pitchFamily="34" charset="-120"/>
              </a:rPr>
              <a:t>Coding conventions + what to avoid</a:t>
            </a:r>
            <a:endParaRPr lang="en-US" sz="1000" dirty="0"/>
          </a:p>
        </p:txBody>
      </p:sp>
      <p:sp>
        <p:nvSpPr>
          <p:cNvPr id="21" name="Shape 19"/>
          <p:cNvSpPr/>
          <p:nvPr/>
        </p:nvSpPr>
        <p:spPr>
          <a:xfrm>
            <a:off x="4754880" y="3099816"/>
            <a:ext cx="182880" cy="0"/>
          </a:xfrm>
          <a:prstGeom prst="line">
            <a:avLst/>
          </a:prstGeom>
          <a:noFill/>
          <a:ln w="6350">
            <a:solidFill>
              <a:srgbClr val="6B7280"/>
            </a:solidFill>
            <a:prstDash val="solid"/>
          </a:ln>
        </p:spPr>
      </p:sp>
      <p:sp>
        <p:nvSpPr>
          <p:cNvPr id="22" name="Text 20"/>
          <p:cNvSpPr/>
          <p:nvPr/>
        </p:nvSpPr>
        <p:spPr>
          <a:xfrm>
            <a:off x="5029200" y="2971800"/>
            <a:ext cx="3657600" cy="23774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agents/</a:t>
            </a:r>
            <a:endParaRPr lang="en-US" sz="1200" dirty="0"/>
          </a:p>
        </p:txBody>
      </p:sp>
      <p:sp>
        <p:nvSpPr>
          <p:cNvPr id="23" name="Text 21"/>
          <p:cNvSpPr/>
          <p:nvPr/>
        </p:nvSpPr>
        <p:spPr>
          <a:xfrm>
            <a:off x="5029200" y="3209544"/>
            <a:ext cx="36576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Repeatable specialist tasks</a:t>
            </a:r>
            <a:endParaRPr lang="en-US" sz="1000" dirty="0"/>
          </a:p>
          <a:p>
            <a:pPr algn="l" indent="0" marL="0">
              <a:buNone/>
            </a:pPr>
            <a:r>
              <a:rPr lang="en-US" sz="1000" dirty="0">
                <a:solidFill>
                  <a:srgbClr val="6B7280"/>
                </a:solidFill>
                <a:latin typeface="Calibri" pitchFamily="34" charset="0"/>
                <a:ea typeface="Calibri" pitchFamily="34" charset="-122"/>
                <a:cs typeface="Calibri" pitchFamily="34" charset="-120"/>
              </a:rPr>
              <a:t>/review · /gen-tests · /docs</a:t>
            </a:r>
            <a:endParaRPr lang="en-US" sz="1000" dirty="0"/>
          </a:p>
        </p:txBody>
      </p:sp>
      <p:sp>
        <p:nvSpPr>
          <p:cNvPr id="24" name="Shape 22"/>
          <p:cNvSpPr/>
          <p:nvPr/>
        </p:nvSpPr>
        <p:spPr>
          <a:xfrm>
            <a:off x="4754880" y="3694176"/>
            <a:ext cx="182880" cy="0"/>
          </a:xfrm>
          <a:prstGeom prst="line">
            <a:avLst/>
          </a:prstGeom>
          <a:noFill/>
          <a:ln w="6350">
            <a:solidFill>
              <a:srgbClr val="6B7280"/>
            </a:solidFill>
            <a:prstDash val="solid"/>
          </a:ln>
        </p:spPr>
      </p:sp>
      <p:sp>
        <p:nvSpPr>
          <p:cNvPr id="25" name="Text 23"/>
          <p:cNvSpPr/>
          <p:nvPr/>
        </p:nvSpPr>
        <p:spPr>
          <a:xfrm>
            <a:off x="5029200" y="3566160"/>
            <a:ext cx="3657600" cy="23774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commands/</a:t>
            </a:r>
            <a:endParaRPr lang="en-US" sz="1200" dirty="0"/>
          </a:p>
        </p:txBody>
      </p:sp>
      <p:sp>
        <p:nvSpPr>
          <p:cNvPr id="26" name="Text 24"/>
          <p:cNvSpPr/>
          <p:nvPr/>
        </p:nvSpPr>
        <p:spPr>
          <a:xfrm>
            <a:off x="5029200" y="3803904"/>
            <a:ext cx="3657600" cy="420624"/>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One-command team standards</a:t>
            </a:r>
            <a:endParaRPr lang="en-US" sz="1000" dirty="0"/>
          </a:p>
          <a:p>
            <a:pPr algn="l" indent="0" marL="0">
              <a:buNone/>
            </a:pPr>
            <a:r>
              <a:rPr lang="en-US" sz="1000" dirty="0">
                <a:solidFill>
                  <a:srgbClr val="6B7280"/>
                </a:solidFill>
                <a:latin typeface="Calibri" pitchFamily="34" charset="0"/>
                <a:ea typeface="Calibri" pitchFamily="34" charset="-122"/>
                <a:cs typeface="Calibri" pitchFamily="34" charset="-120"/>
              </a:rPr>
              <a:t>Same quality, every time</a:t>
            </a:r>
            <a:endParaRPr lang="en-US" sz="1000" dirty="0"/>
          </a:p>
        </p:txBody>
      </p:sp>
      <p:sp>
        <p:nvSpPr>
          <p:cNvPr id="27" name="Shape 25"/>
          <p:cNvSpPr/>
          <p:nvPr/>
        </p:nvSpPr>
        <p:spPr>
          <a:xfrm>
            <a:off x="502920" y="4828032"/>
            <a:ext cx="8138160" cy="0"/>
          </a:xfrm>
          <a:prstGeom prst="line">
            <a:avLst/>
          </a:prstGeom>
          <a:noFill/>
          <a:ln w="6350">
            <a:solidFill>
              <a:srgbClr val="E5E7EB"/>
            </a:solidFill>
            <a:prstDash val="solid"/>
          </a:ln>
        </p:spPr>
      </p:sp>
      <p:sp>
        <p:nvSpPr>
          <p:cNvPr id="28" name="Text 26"/>
          <p:cNvSpPr/>
          <p:nvPr/>
        </p:nvSpPr>
        <p:spPr>
          <a:xfrm>
            <a:off x="502920" y="4864608"/>
            <a:ext cx="4114800" cy="201168"/>
          </a:xfrm>
          <a:prstGeom prst="rect">
            <a:avLst/>
          </a:prstGeom>
          <a:noFill/>
          <a:ln/>
        </p:spPr>
        <p:txBody>
          <a:bodyPr wrap="square" lIns="0" tIns="0" rIns="0" bIns="0" rtlCol="0" anchor="ctr"/>
          <a:lstStyle/>
          <a:p>
            <a:pPr algn="l" indent="0" marL="0">
              <a:buNone/>
            </a:pPr>
            <a:r>
              <a:rPr lang="en-US" sz="900" dirty="0">
                <a:solidFill>
                  <a:srgbClr val="A0A8B3"/>
                </a:solidFill>
                <a:latin typeface="Calibri" pitchFamily="34" charset="0"/>
                <a:ea typeface="Calibri" pitchFamily="34" charset="-122"/>
                <a:cs typeface="Calibri" pitchFamily="34" charset="-120"/>
              </a:rPr>
              <a:t>Minimum CLAUDE.md — copy this for every project:</a:t>
            </a:r>
            <a:endParaRPr lang="en-US" sz="900" dirty="0"/>
          </a:p>
        </p:txBody>
      </p:sp>
      <p:sp>
        <p:nvSpPr>
          <p:cNvPr id="29" name="Shape 27"/>
          <p:cNvSpPr/>
          <p:nvPr/>
        </p:nvSpPr>
        <p:spPr>
          <a:xfrm>
            <a:off x="4663440" y="4828032"/>
            <a:ext cx="4023360" cy="594360"/>
          </a:xfrm>
          <a:prstGeom prst="rect">
            <a:avLst/>
          </a:prstGeom>
          <a:solidFill>
            <a:srgbClr val="F3F4F6"/>
          </a:solidFill>
          <a:ln w="6350">
            <a:solidFill>
              <a:srgbClr val="E5E7EB"/>
            </a:solidFill>
            <a:prstDash val="solid"/>
          </a:ln>
        </p:spPr>
      </p:sp>
      <p:sp>
        <p:nvSpPr>
          <p:cNvPr id="30" name="Text 28"/>
          <p:cNvSpPr/>
          <p:nvPr/>
        </p:nvSpPr>
        <p:spPr>
          <a:xfrm>
            <a:off x="4754880" y="4846320"/>
            <a:ext cx="3886200" cy="566928"/>
          </a:xfrm>
          <a:prstGeom prst="rect">
            <a:avLst/>
          </a:prstGeom>
          <a:noFill/>
          <a:ln/>
        </p:spPr>
        <p:txBody>
          <a:bodyPr wrap="square" lIns="0" tIns="0" rIns="0" bIns="0" rtlCol="0" anchor="ctr"/>
          <a:lstStyle/>
          <a:p>
            <a:pPr algn="l" indent="0" marL="0">
              <a:buNone/>
            </a:pPr>
            <a:r>
              <a:rPr lang="en-US" sz="900" dirty="0">
                <a:solidFill>
                  <a:srgbClr val="111111"/>
                </a:solidFill>
                <a:latin typeface="Consolas" pitchFamily="34" charset="0"/>
                <a:ea typeface="Consolas" pitchFamily="34" charset="-122"/>
                <a:cs typeface="Consolas" pitchFamily="34" charset="-120"/>
              </a:rPr>
              <a:t>Stack: Node.js 20, React 18, PostgreSQL 14, AWS</a:t>
            </a:r>
            <a:endParaRPr lang="en-US" sz="900" dirty="0"/>
          </a:p>
          <a:p>
            <a:pPr algn="l" indent="0" marL="0">
              <a:buNone/>
            </a:pPr>
            <a:r>
              <a:rPr lang="en-US" sz="900" dirty="0">
                <a:solidFill>
                  <a:srgbClr val="111111"/>
                </a:solidFill>
                <a:latin typeface="Consolas" pitchFamily="34" charset="0"/>
                <a:ea typeface="Consolas" pitchFamily="34" charset="-122"/>
                <a:cs typeface="Consolas" pitchFamily="34" charset="-120"/>
              </a:rPr>
              <a:t>Style: ESLint Airbnb, async/await, no raw SQL (use Knex)</a:t>
            </a:r>
            <a:endParaRPr lang="en-US" sz="900" dirty="0"/>
          </a:p>
          <a:p>
            <a:pPr algn="l" indent="0" marL="0">
              <a:buNone/>
            </a:pPr>
            <a:r>
              <a:rPr lang="en-US" sz="900" dirty="0">
                <a:solidFill>
                  <a:srgbClr val="111111"/>
                </a:solidFill>
                <a:latin typeface="Consolas" pitchFamily="34" charset="0"/>
                <a:ea typeface="Consolas" pitchFamily="34" charset="-122"/>
                <a:cs typeface="Consolas" pitchFamily="34" charset="-120"/>
              </a:rPr>
              <a:t>Tests: Jest + Supertest</a:t>
            </a:r>
            <a:endParaRPr lang="en-US" sz="900" dirty="0"/>
          </a:p>
          <a:p>
            <a:pPr algn="l" indent="0" marL="0">
              <a:buNone/>
            </a:pPr>
            <a:r>
              <a:rPr lang="en-US" sz="900" dirty="0">
                <a:solidFill>
                  <a:srgbClr val="111111"/>
                </a:solidFill>
                <a:latin typeface="Consolas" pitchFamily="34" charset="0"/>
                <a:ea typeface="Consolas" pitchFamily="34" charset="-122"/>
                <a:cs typeface="Consolas" pitchFamily="34" charset="-120"/>
              </a:rPr>
              <a:t>Off-limits: /src/auth/  /src/middleware/security.js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11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Know exactly what your AI can see — and what it’s guessing.</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3840480" cy="1444752"/>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sp>
        <p:nvSpPr>
          <p:cNvPr id="6" name="Shape 4"/>
          <p:cNvSpPr/>
          <p:nvPr/>
        </p:nvSpPr>
        <p:spPr>
          <a:xfrm>
            <a:off x="3520440" y="1778508"/>
            <a:ext cx="128016" cy="86868"/>
          </a:xfrm>
          <a:prstGeom prst="rect">
            <a:avLst/>
          </a:prstGeom>
          <a:solidFill>
            <a:srgbClr val="111111"/>
          </a:solidFill>
          <a:ln w="12700">
            <a:solidFill>
              <a:srgbClr val="111111"/>
            </a:solidFill>
            <a:prstDash val="solid"/>
          </a:ln>
        </p:spPr>
      </p:sp>
      <p:sp>
        <p:nvSpPr>
          <p:cNvPr id="7" name="Shape 5"/>
          <p:cNvSpPr/>
          <p:nvPr/>
        </p:nvSpPr>
        <p:spPr>
          <a:xfrm>
            <a:off x="3703320" y="1691640"/>
            <a:ext cx="128016" cy="173736"/>
          </a:xfrm>
          <a:prstGeom prst="rect">
            <a:avLst/>
          </a:prstGeom>
          <a:solidFill>
            <a:srgbClr val="111111"/>
          </a:solidFill>
          <a:ln w="12700">
            <a:solidFill>
              <a:srgbClr val="111111"/>
            </a:solidFill>
            <a:prstDash val="solid"/>
          </a:ln>
        </p:spPr>
      </p:sp>
      <p:sp>
        <p:nvSpPr>
          <p:cNvPr id="8" name="Shape 6"/>
          <p:cNvSpPr/>
          <p:nvPr/>
        </p:nvSpPr>
        <p:spPr>
          <a:xfrm>
            <a:off x="3886200" y="1604772"/>
            <a:ext cx="128016" cy="260604"/>
          </a:xfrm>
          <a:prstGeom prst="rect">
            <a:avLst/>
          </a:prstGeom>
          <a:solidFill>
            <a:srgbClr val="E9EAEC"/>
          </a:solidFill>
          <a:ln w="6350">
            <a:solidFill>
              <a:srgbClr val="D1D5DB"/>
            </a:solidFill>
            <a:prstDash val="solid"/>
          </a:ln>
        </p:spPr>
      </p:sp>
      <p:sp>
        <p:nvSpPr>
          <p:cNvPr id="9" name="Shape 7"/>
          <p:cNvSpPr/>
          <p:nvPr/>
        </p:nvSpPr>
        <p:spPr>
          <a:xfrm>
            <a:off x="4069080" y="1517904"/>
            <a:ext cx="128016" cy="347472"/>
          </a:xfrm>
          <a:prstGeom prst="rect">
            <a:avLst/>
          </a:prstGeom>
          <a:solidFill>
            <a:srgbClr val="E9EAEC"/>
          </a:solidFill>
          <a:ln w="6350">
            <a:solidFill>
              <a:srgbClr val="D1D5DB"/>
            </a:solidFill>
            <a:prstDash val="solid"/>
          </a:ln>
        </p:spPr>
      </p:sp>
      <p:sp>
        <p:nvSpPr>
          <p:cNvPr id="10" name="Text 8"/>
          <p:cNvSpPr/>
          <p:nvPr/>
        </p:nvSpPr>
        <p:spPr>
          <a:xfrm>
            <a:off x="640080" y="1481328"/>
            <a:ext cx="2926080" cy="310896"/>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Claude</a:t>
            </a:r>
            <a:endParaRPr lang="en-US" sz="1600" dirty="0"/>
          </a:p>
        </p:txBody>
      </p:sp>
      <p:sp>
        <p:nvSpPr>
          <p:cNvPr id="11" name="Shape 9"/>
          <p:cNvSpPr/>
          <p:nvPr/>
        </p:nvSpPr>
        <p:spPr>
          <a:xfrm>
            <a:off x="640080" y="1847088"/>
            <a:ext cx="3566160" cy="0"/>
          </a:xfrm>
          <a:prstGeom prst="line">
            <a:avLst/>
          </a:prstGeom>
          <a:noFill/>
          <a:ln w="3810">
            <a:solidFill>
              <a:srgbClr val="E5E7EB"/>
            </a:solidFill>
            <a:prstDash val="solid"/>
          </a:ln>
        </p:spPr>
      </p:sp>
      <p:sp>
        <p:nvSpPr>
          <p:cNvPr id="12" name="Text 10"/>
          <p:cNvSpPr/>
          <p:nvPr/>
        </p:nvSpPr>
        <p:spPr>
          <a:xfrm>
            <a:off x="640080" y="1892808"/>
            <a:ext cx="3566160" cy="402336"/>
          </a:xfrm>
          <a:prstGeom prst="rect">
            <a:avLst/>
          </a:prstGeom>
          <a:noFill/>
          <a:ln/>
        </p:spPr>
        <p:txBody>
          <a:bodyPr wrap="square" lIns="0" tIns="0" rIns="0" bIns="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Sees: What you paste / attach / reference</a:t>
            </a:r>
            <a:endParaRPr lang="en-US" sz="950" dirty="0"/>
          </a:p>
        </p:txBody>
      </p:sp>
      <p:sp>
        <p:nvSpPr>
          <p:cNvPr id="13" name="Text 11"/>
          <p:cNvSpPr/>
          <p:nvPr/>
        </p:nvSpPr>
        <p:spPr>
          <a:xfrm>
            <a:off x="640080" y="2295144"/>
            <a:ext cx="3566160" cy="402336"/>
          </a:xfrm>
          <a:prstGeom prst="rect">
            <a:avLst/>
          </a:prstGeom>
          <a:noFill/>
          <a:ln/>
        </p:spPr>
        <p:txBody>
          <a:bodyPr wrap="square" lIns="0" tIns="0" rIns="0" bIns="0" rtlCol="0" anchor="ctr"/>
          <a:lstStyle/>
          <a:p>
            <a:pPr algn="l" indent="0" marL="0">
              <a:buNone/>
            </a:pPr>
            <a:r>
              <a:rPr lang="en-US" sz="950" i="1" dirty="0">
                <a:solidFill>
                  <a:srgbClr val="A0A8B3"/>
                </a:solidFill>
                <a:latin typeface="Calibri" pitchFamily="34" charset="0"/>
                <a:ea typeface="Calibri" pitchFamily="34" charset="-122"/>
                <a:cs typeface="Calibri" pitchFamily="34" charset="-120"/>
              </a:rPr>
              <a:t>Blind: Everything else in your codebase</a:t>
            </a:r>
            <a:endParaRPr lang="en-US" sz="950" dirty="0"/>
          </a:p>
        </p:txBody>
      </p:sp>
      <p:sp>
        <p:nvSpPr>
          <p:cNvPr id="14" name="Shape 12"/>
          <p:cNvSpPr/>
          <p:nvPr/>
        </p:nvSpPr>
        <p:spPr>
          <a:xfrm>
            <a:off x="4507992" y="1389888"/>
            <a:ext cx="3840480" cy="1444752"/>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sp>
        <p:nvSpPr>
          <p:cNvPr id="15" name="Shape 13"/>
          <p:cNvSpPr/>
          <p:nvPr/>
        </p:nvSpPr>
        <p:spPr>
          <a:xfrm>
            <a:off x="7525512" y="1778508"/>
            <a:ext cx="128016" cy="86868"/>
          </a:xfrm>
          <a:prstGeom prst="rect">
            <a:avLst/>
          </a:prstGeom>
          <a:solidFill>
            <a:srgbClr val="111111"/>
          </a:solidFill>
          <a:ln w="12700">
            <a:solidFill>
              <a:srgbClr val="111111"/>
            </a:solidFill>
            <a:prstDash val="solid"/>
          </a:ln>
        </p:spPr>
      </p:sp>
      <p:sp>
        <p:nvSpPr>
          <p:cNvPr id="16" name="Shape 14"/>
          <p:cNvSpPr/>
          <p:nvPr/>
        </p:nvSpPr>
        <p:spPr>
          <a:xfrm>
            <a:off x="7708392" y="1691640"/>
            <a:ext cx="128016" cy="173736"/>
          </a:xfrm>
          <a:prstGeom prst="rect">
            <a:avLst/>
          </a:prstGeom>
          <a:solidFill>
            <a:srgbClr val="111111"/>
          </a:solidFill>
          <a:ln w="12700">
            <a:solidFill>
              <a:srgbClr val="111111"/>
            </a:solidFill>
            <a:prstDash val="solid"/>
          </a:ln>
        </p:spPr>
      </p:sp>
      <p:sp>
        <p:nvSpPr>
          <p:cNvPr id="17" name="Shape 15"/>
          <p:cNvSpPr/>
          <p:nvPr/>
        </p:nvSpPr>
        <p:spPr>
          <a:xfrm>
            <a:off x="7891272" y="1604772"/>
            <a:ext cx="128016" cy="260604"/>
          </a:xfrm>
          <a:prstGeom prst="rect">
            <a:avLst/>
          </a:prstGeom>
          <a:solidFill>
            <a:srgbClr val="111111"/>
          </a:solidFill>
          <a:ln w="12700">
            <a:solidFill>
              <a:srgbClr val="111111"/>
            </a:solidFill>
            <a:prstDash val="solid"/>
          </a:ln>
        </p:spPr>
      </p:sp>
      <p:sp>
        <p:nvSpPr>
          <p:cNvPr id="18" name="Shape 16"/>
          <p:cNvSpPr/>
          <p:nvPr/>
        </p:nvSpPr>
        <p:spPr>
          <a:xfrm>
            <a:off x="8074152" y="1517904"/>
            <a:ext cx="128016" cy="347472"/>
          </a:xfrm>
          <a:prstGeom prst="rect">
            <a:avLst/>
          </a:prstGeom>
          <a:solidFill>
            <a:srgbClr val="111111"/>
          </a:solidFill>
          <a:ln w="12700">
            <a:solidFill>
              <a:srgbClr val="111111"/>
            </a:solidFill>
            <a:prstDash val="solid"/>
          </a:ln>
        </p:spPr>
      </p:sp>
      <p:sp>
        <p:nvSpPr>
          <p:cNvPr id="19" name="Text 17"/>
          <p:cNvSpPr/>
          <p:nvPr/>
        </p:nvSpPr>
        <p:spPr>
          <a:xfrm>
            <a:off x="4645152" y="1481328"/>
            <a:ext cx="2926080" cy="310896"/>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Cursor</a:t>
            </a:r>
            <a:endParaRPr lang="en-US" sz="1600" dirty="0"/>
          </a:p>
        </p:txBody>
      </p:sp>
      <p:sp>
        <p:nvSpPr>
          <p:cNvPr id="20" name="Shape 18"/>
          <p:cNvSpPr/>
          <p:nvPr/>
        </p:nvSpPr>
        <p:spPr>
          <a:xfrm>
            <a:off x="4645152" y="1847088"/>
            <a:ext cx="3566160" cy="0"/>
          </a:xfrm>
          <a:prstGeom prst="line">
            <a:avLst/>
          </a:prstGeom>
          <a:noFill/>
          <a:ln w="3810">
            <a:solidFill>
              <a:srgbClr val="E5E7EB"/>
            </a:solidFill>
            <a:prstDash val="solid"/>
          </a:ln>
        </p:spPr>
      </p:sp>
      <p:sp>
        <p:nvSpPr>
          <p:cNvPr id="21" name="Text 19"/>
          <p:cNvSpPr/>
          <p:nvPr/>
        </p:nvSpPr>
        <p:spPr>
          <a:xfrm>
            <a:off x="4645152" y="1892808"/>
            <a:ext cx="3566160" cy="402336"/>
          </a:xfrm>
          <a:prstGeom prst="rect">
            <a:avLst/>
          </a:prstGeom>
          <a:noFill/>
          <a:ln/>
        </p:spPr>
        <p:txBody>
          <a:bodyPr wrap="square" lIns="0" tIns="0" rIns="0" bIns="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Sees: Open + indexed files in the project</a:t>
            </a:r>
            <a:endParaRPr lang="en-US" sz="950" dirty="0"/>
          </a:p>
        </p:txBody>
      </p:sp>
      <p:sp>
        <p:nvSpPr>
          <p:cNvPr id="22" name="Text 20"/>
          <p:cNvSpPr/>
          <p:nvPr/>
        </p:nvSpPr>
        <p:spPr>
          <a:xfrm>
            <a:off x="4645152" y="2295144"/>
            <a:ext cx="3566160" cy="402336"/>
          </a:xfrm>
          <a:prstGeom prst="rect">
            <a:avLst/>
          </a:prstGeom>
          <a:noFill/>
          <a:ln/>
        </p:spPr>
        <p:txBody>
          <a:bodyPr wrap="square" lIns="0" tIns="0" rIns="0" bIns="0" rtlCol="0" anchor="ctr"/>
          <a:lstStyle/>
          <a:p>
            <a:pPr algn="l" indent="0" marL="0">
              <a:buNone/>
            </a:pPr>
            <a:r>
              <a:rPr lang="en-US" sz="950" i="1" dirty="0">
                <a:solidFill>
                  <a:srgbClr val="A0A8B3"/>
                </a:solidFill>
                <a:latin typeface="Calibri" pitchFamily="34" charset="0"/>
                <a:ea typeface="Calibri" pitchFamily="34" charset="-122"/>
                <a:cs typeface="Calibri" pitchFamily="34" charset="-120"/>
              </a:rPr>
              <a:t>Blind: Runtime state · excluded files · secrets</a:t>
            </a:r>
            <a:endParaRPr lang="en-US" sz="950" dirty="0"/>
          </a:p>
        </p:txBody>
      </p:sp>
      <p:sp>
        <p:nvSpPr>
          <p:cNvPr id="23" name="Shape 21"/>
          <p:cNvSpPr/>
          <p:nvPr/>
        </p:nvSpPr>
        <p:spPr>
          <a:xfrm>
            <a:off x="502920" y="2999232"/>
            <a:ext cx="3840480" cy="1444752"/>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sp>
        <p:nvSpPr>
          <p:cNvPr id="24" name="Shape 22"/>
          <p:cNvSpPr/>
          <p:nvPr/>
        </p:nvSpPr>
        <p:spPr>
          <a:xfrm>
            <a:off x="3520440" y="3387852"/>
            <a:ext cx="128016" cy="86868"/>
          </a:xfrm>
          <a:prstGeom prst="rect">
            <a:avLst/>
          </a:prstGeom>
          <a:solidFill>
            <a:srgbClr val="111111"/>
          </a:solidFill>
          <a:ln w="12700">
            <a:solidFill>
              <a:srgbClr val="111111"/>
            </a:solidFill>
            <a:prstDash val="solid"/>
          </a:ln>
        </p:spPr>
      </p:sp>
      <p:sp>
        <p:nvSpPr>
          <p:cNvPr id="25" name="Shape 23"/>
          <p:cNvSpPr/>
          <p:nvPr/>
        </p:nvSpPr>
        <p:spPr>
          <a:xfrm>
            <a:off x="3703320" y="3300984"/>
            <a:ext cx="128016" cy="173736"/>
          </a:xfrm>
          <a:prstGeom prst="rect">
            <a:avLst/>
          </a:prstGeom>
          <a:solidFill>
            <a:srgbClr val="111111"/>
          </a:solidFill>
          <a:ln w="12700">
            <a:solidFill>
              <a:srgbClr val="111111"/>
            </a:solidFill>
            <a:prstDash val="solid"/>
          </a:ln>
        </p:spPr>
      </p:sp>
      <p:sp>
        <p:nvSpPr>
          <p:cNvPr id="26" name="Shape 24"/>
          <p:cNvSpPr/>
          <p:nvPr/>
        </p:nvSpPr>
        <p:spPr>
          <a:xfrm>
            <a:off x="3886200" y="3214116"/>
            <a:ext cx="128016" cy="260604"/>
          </a:xfrm>
          <a:prstGeom prst="rect">
            <a:avLst/>
          </a:prstGeom>
          <a:solidFill>
            <a:srgbClr val="E9EAEC"/>
          </a:solidFill>
          <a:ln w="6350">
            <a:solidFill>
              <a:srgbClr val="D1D5DB"/>
            </a:solidFill>
            <a:prstDash val="solid"/>
          </a:ln>
        </p:spPr>
      </p:sp>
      <p:sp>
        <p:nvSpPr>
          <p:cNvPr id="27" name="Shape 25"/>
          <p:cNvSpPr/>
          <p:nvPr/>
        </p:nvSpPr>
        <p:spPr>
          <a:xfrm>
            <a:off x="4069080" y="3127248"/>
            <a:ext cx="128016" cy="347472"/>
          </a:xfrm>
          <a:prstGeom prst="rect">
            <a:avLst/>
          </a:prstGeom>
          <a:solidFill>
            <a:srgbClr val="E9EAEC"/>
          </a:solidFill>
          <a:ln w="6350">
            <a:solidFill>
              <a:srgbClr val="D1D5DB"/>
            </a:solidFill>
            <a:prstDash val="solid"/>
          </a:ln>
        </p:spPr>
      </p:sp>
      <p:sp>
        <p:nvSpPr>
          <p:cNvPr id="28" name="Text 26"/>
          <p:cNvSpPr/>
          <p:nvPr/>
        </p:nvSpPr>
        <p:spPr>
          <a:xfrm>
            <a:off x="640080" y="3090672"/>
            <a:ext cx="2926080" cy="310896"/>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Copilot</a:t>
            </a:r>
            <a:endParaRPr lang="en-US" sz="1600" dirty="0"/>
          </a:p>
        </p:txBody>
      </p:sp>
      <p:sp>
        <p:nvSpPr>
          <p:cNvPr id="29" name="Shape 27"/>
          <p:cNvSpPr/>
          <p:nvPr/>
        </p:nvSpPr>
        <p:spPr>
          <a:xfrm>
            <a:off x="640080" y="3456432"/>
            <a:ext cx="3566160" cy="0"/>
          </a:xfrm>
          <a:prstGeom prst="line">
            <a:avLst/>
          </a:prstGeom>
          <a:noFill/>
          <a:ln w="3810">
            <a:solidFill>
              <a:srgbClr val="E5E7EB"/>
            </a:solidFill>
            <a:prstDash val="solid"/>
          </a:ln>
        </p:spPr>
      </p:sp>
      <p:sp>
        <p:nvSpPr>
          <p:cNvPr id="30" name="Text 28"/>
          <p:cNvSpPr/>
          <p:nvPr/>
        </p:nvSpPr>
        <p:spPr>
          <a:xfrm>
            <a:off x="640080" y="3502152"/>
            <a:ext cx="3566160" cy="402336"/>
          </a:xfrm>
          <a:prstGeom prst="rect">
            <a:avLst/>
          </a:prstGeom>
          <a:noFill/>
          <a:ln/>
        </p:spPr>
        <p:txBody>
          <a:bodyPr wrap="square" lIns="0" tIns="0" rIns="0" bIns="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Sees: Current file + adjacent open files</a:t>
            </a:r>
            <a:endParaRPr lang="en-US" sz="950" dirty="0"/>
          </a:p>
        </p:txBody>
      </p:sp>
      <p:sp>
        <p:nvSpPr>
          <p:cNvPr id="31" name="Text 29"/>
          <p:cNvSpPr/>
          <p:nvPr/>
        </p:nvSpPr>
        <p:spPr>
          <a:xfrm>
            <a:off x="640080" y="3904488"/>
            <a:ext cx="3566160" cy="402336"/>
          </a:xfrm>
          <a:prstGeom prst="rect">
            <a:avLst/>
          </a:prstGeom>
          <a:noFill/>
          <a:ln/>
        </p:spPr>
        <p:txBody>
          <a:bodyPr wrap="square" lIns="0" tIns="0" rIns="0" bIns="0" rtlCol="0" anchor="ctr"/>
          <a:lstStyle/>
          <a:p>
            <a:pPr algn="l" indent="0" marL="0">
              <a:buNone/>
            </a:pPr>
            <a:r>
              <a:rPr lang="en-US" sz="950" i="1" dirty="0">
                <a:solidFill>
                  <a:srgbClr val="A0A8B3"/>
                </a:solidFill>
                <a:latin typeface="Calibri" pitchFamily="34" charset="0"/>
                <a:ea typeface="Calibri" pitchFamily="34" charset="-122"/>
                <a:cs typeface="Calibri" pitchFamily="34" charset="-120"/>
              </a:rPr>
              <a:t>Blind: Your whole project context + standards</a:t>
            </a:r>
            <a:endParaRPr lang="en-US" sz="950" dirty="0"/>
          </a:p>
        </p:txBody>
      </p:sp>
      <p:sp>
        <p:nvSpPr>
          <p:cNvPr id="32" name="Shape 30"/>
          <p:cNvSpPr/>
          <p:nvPr/>
        </p:nvSpPr>
        <p:spPr>
          <a:xfrm>
            <a:off x="4507992" y="2999232"/>
            <a:ext cx="3840480" cy="1444752"/>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sp>
        <p:nvSpPr>
          <p:cNvPr id="33" name="Shape 31"/>
          <p:cNvSpPr/>
          <p:nvPr/>
        </p:nvSpPr>
        <p:spPr>
          <a:xfrm>
            <a:off x="7525512" y="3387852"/>
            <a:ext cx="128016" cy="86868"/>
          </a:xfrm>
          <a:prstGeom prst="rect">
            <a:avLst/>
          </a:prstGeom>
          <a:solidFill>
            <a:srgbClr val="111111"/>
          </a:solidFill>
          <a:ln w="12700">
            <a:solidFill>
              <a:srgbClr val="111111"/>
            </a:solidFill>
            <a:prstDash val="solid"/>
          </a:ln>
        </p:spPr>
      </p:sp>
      <p:sp>
        <p:nvSpPr>
          <p:cNvPr id="34" name="Shape 32"/>
          <p:cNvSpPr/>
          <p:nvPr/>
        </p:nvSpPr>
        <p:spPr>
          <a:xfrm>
            <a:off x="7708392" y="3300984"/>
            <a:ext cx="128016" cy="173736"/>
          </a:xfrm>
          <a:prstGeom prst="rect">
            <a:avLst/>
          </a:prstGeom>
          <a:solidFill>
            <a:srgbClr val="E9EAEC"/>
          </a:solidFill>
          <a:ln w="6350">
            <a:solidFill>
              <a:srgbClr val="D1D5DB"/>
            </a:solidFill>
            <a:prstDash val="solid"/>
          </a:ln>
        </p:spPr>
      </p:sp>
      <p:sp>
        <p:nvSpPr>
          <p:cNvPr id="35" name="Shape 33"/>
          <p:cNvSpPr/>
          <p:nvPr/>
        </p:nvSpPr>
        <p:spPr>
          <a:xfrm>
            <a:off x="7891272" y="3214116"/>
            <a:ext cx="128016" cy="260604"/>
          </a:xfrm>
          <a:prstGeom prst="rect">
            <a:avLst/>
          </a:prstGeom>
          <a:solidFill>
            <a:srgbClr val="E9EAEC"/>
          </a:solidFill>
          <a:ln w="6350">
            <a:solidFill>
              <a:srgbClr val="D1D5DB"/>
            </a:solidFill>
            <a:prstDash val="solid"/>
          </a:ln>
        </p:spPr>
      </p:sp>
      <p:sp>
        <p:nvSpPr>
          <p:cNvPr id="36" name="Shape 34"/>
          <p:cNvSpPr/>
          <p:nvPr/>
        </p:nvSpPr>
        <p:spPr>
          <a:xfrm>
            <a:off x="8074152" y="3127248"/>
            <a:ext cx="128016" cy="347472"/>
          </a:xfrm>
          <a:prstGeom prst="rect">
            <a:avLst/>
          </a:prstGeom>
          <a:solidFill>
            <a:srgbClr val="E9EAEC"/>
          </a:solidFill>
          <a:ln w="6350">
            <a:solidFill>
              <a:srgbClr val="D1D5DB"/>
            </a:solidFill>
            <a:prstDash val="solid"/>
          </a:ln>
        </p:spPr>
      </p:sp>
      <p:sp>
        <p:nvSpPr>
          <p:cNvPr id="37" name="Text 35"/>
          <p:cNvSpPr/>
          <p:nvPr/>
        </p:nvSpPr>
        <p:spPr>
          <a:xfrm>
            <a:off x="4645152" y="3090672"/>
            <a:ext cx="2926080" cy="310896"/>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ChatGPT</a:t>
            </a:r>
            <a:endParaRPr lang="en-US" sz="1600" dirty="0"/>
          </a:p>
        </p:txBody>
      </p:sp>
      <p:sp>
        <p:nvSpPr>
          <p:cNvPr id="38" name="Shape 36"/>
          <p:cNvSpPr/>
          <p:nvPr/>
        </p:nvSpPr>
        <p:spPr>
          <a:xfrm>
            <a:off x="4645152" y="3456432"/>
            <a:ext cx="3566160" cy="0"/>
          </a:xfrm>
          <a:prstGeom prst="line">
            <a:avLst/>
          </a:prstGeom>
          <a:noFill/>
          <a:ln w="3810">
            <a:solidFill>
              <a:srgbClr val="E5E7EB"/>
            </a:solidFill>
            <a:prstDash val="solid"/>
          </a:ln>
        </p:spPr>
      </p:sp>
      <p:sp>
        <p:nvSpPr>
          <p:cNvPr id="39" name="Text 37"/>
          <p:cNvSpPr/>
          <p:nvPr/>
        </p:nvSpPr>
        <p:spPr>
          <a:xfrm>
            <a:off x="4645152" y="3502152"/>
            <a:ext cx="3566160" cy="402336"/>
          </a:xfrm>
          <a:prstGeom prst="rect">
            <a:avLst/>
          </a:prstGeom>
          <a:noFill/>
          <a:ln/>
        </p:spPr>
        <p:txBody>
          <a:bodyPr wrap="square" lIns="0" tIns="0" rIns="0" bIns="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Sees: This conversation only</a:t>
            </a:r>
            <a:endParaRPr lang="en-US" sz="950" dirty="0"/>
          </a:p>
        </p:txBody>
      </p:sp>
      <p:sp>
        <p:nvSpPr>
          <p:cNvPr id="40" name="Text 38"/>
          <p:cNvSpPr/>
          <p:nvPr/>
        </p:nvSpPr>
        <p:spPr>
          <a:xfrm>
            <a:off x="4645152" y="3904488"/>
            <a:ext cx="3566160" cy="402336"/>
          </a:xfrm>
          <a:prstGeom prst="rect">
            <a:avLst/>
          </a:prstGeom>
          <a:noFill/>
          <a:ln/>
        </p:spPr>
        <p:txBody>
          <a:bodyPr wrap="square" lIns="0" tIns="0" rIns="0" bIns="0" rtlCol="0" anchor="ctr"/>
          <a:lstStyle/>
          <a:p>
            <a:pPr algn="l" indent="0" marL="0">
              <a:buNone/>
            </a:pPr>
            <a:r>
              <a:rPr lang="en-US" sz="950" i="1" dirty="0">
                <a:solidFill>
                  <a:srgbClr val="A0A8B3"/>
                </a:solidFill>
                <a:latin typeface="Calibri" pitchFamily="34" charset="0"/>
                <a:ea typeface="Calibri" pitchFamily="34" charset="-122"/>
                <a:cs typeface="Calibri" pitchFamily="34" charset="-120"/>
              </a:rPr>
              <a:t>Blind: Your entire codebase + stack</a:t>
            </a:r>
            <a:endParaRPr lang="en-US" sz="950" dirty="0"/>
          </a:p>
        </p:txBody>
      </p:sp>
      <p:sp>
        <p:nvSpPr>
          <p:cNvPr id="41" name="Shape 39"/>
          <p:cNvSpPr/>
          <p:nvPr/>
        </p:nvSpPr>
        <p:spPr>
          <a:xfrm>
            <a:off x="502920" y="4681728"/>
            <a:ext cx="8138160" cy="0"/>
          </a:xfrm>
          <a:prstGeom prst="line">
            <a:avLst/>
          </a:prstGeom>
          <a:noFill/>
          <a:ln w="6350">
            <a:solidFill>
              <a:srgbClr val="E5E7EB"/>
            </a:solidFill>
            <a:prstDash val="solid"/>
          </a:ln>
        </p:spPr>
      </p:sp>
      <p:sp>
        <p:nvSpPr>
          <p:cNvPr id="42" name="Text 40"/>
          <p:cNvSpPr/>
          <p:nvPr/>
        </p:nvSpPr>
        <p:spPr>
          <a:xfrm>
            <a:off x="502920" y="4754880"/>
            <a:ext cx="1920240" cy="23774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Signs AI is guessing:</a:t>
            </a:r>
            <a:endParaRPr lang="en-US" sz="1200" dirty="0"/>
          </a:p>
        </p:txBody>
      </p:sp>
      <p:sp>
        <p:nvSpPr>
          <p:cNvPr id="43" name="Text 41"/>
          <p:cNvSpPr/>
          <p:nvPr/>
        </p:nvSpPr>
        <p:spPr>
          <a:xfrm>
            <a:off x="2514600" y="4754880"/>
            <a:ext cx="2148840" cy="23774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Imports a function that doesn't exist</a:t>
            </a:r>
            <a:endParaRPr lang="en-US" sz="1200" dirty="0"/>
          </a:p>
        </p:txBody>
      </p:sp>
      <p:sp>
        <p:nvSpPr>
          <p:cNvPr id="44" name="Text 42"/>
          <p:cNvSpPr/>
          <p:nvPr/>
        </p:nvSpPr>
        <p:spPr>
          <a:xfrm>
            <a:off x="4727448" y="4754880"/>
            <a:ext cx="2148840" cy="23774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Suggests a package you already have</a:t>
            </a:r>
            <a:endParaRPr lang="en-US" sz="1200" dirty="0"/>
          </a:p>
        </p:txBody>
      </p:sp>
      <p:sp>
        <p:nvSpPr>
          <p:cNvPr id="45" name="Text 43"/>
          <p:cNvSpPr/>
          <p:nvPr/>
        </p:nvSpPr>
        <p:spPr>
          <a:xfrm>
            <a:off x="6940296" y="4754880"/>
            <a:ext cx="2148840" cy="23774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 Recommends a pattern you don't use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12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GPS says turn right. You still look at the road.</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1371600" y="1389888"/>
            <a:ext cx="6400800" cy="438912"/>
          </a:xfrm>
          <a:prstGeom prst="rect">
            <a:avLst/>
          </a:prstGeom>
          <a:solidFill>
            <a:srgbClr val="F3F4F6"/>
          </a:solidFill>
          <a:ln w="6350">
            <a:solidFill>
              <a:srgbClr val="E5E7EB"/>
            </a:solidFill>
            <a:prstDash val="solid"/>
          </a:ln>
        </p:spPr>
      </p:sp>
      <p:sp>
        <p:nvSpPr>
          <p:cNvPr id="6" name="Text 4"/>
          <p:cNvSpPr/>
          <p:nvPr/>
        </p:nvSpPr>
        <p:spPr>
          <a:xfrm>
            <a:off x="1371600" y="1389888"/>
            <a:ext cx="6400800" cy="438912"/>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AI-generated code</a:t>
            </a:r>
            <a:endParaRPr lang="en-US" sz="1200" dirty="0"/>
          </a:p>
        </p:txBody>
      </p:sp>
      <p:sp>
        <p:nvSpPr>
          <p:cNvPr id="7" name="Shape 5"/>
          <p:cNvSpPr/>
          <p:nvPr/>
        </p:nvSpPr>
        <p:spPr>
          <a:xfrm>
            <a:off x="4572000" y="1828800"/>
            <a:ext cx="0" cy="201168"/>
          </a:xfrm>
          <a:prstGeom prst="line">
            <a:avLst/>
          </a:prstGeom>
          <a:noFill/>
          <a:ln w="12700">
            <a:solidFill>
              <a:srgbClr val="D1D5DB"/>
            </a:solidFill>
            <a:prstDash val="solid"/>
          </a:ln>
        </p:spPr>
      </p:sp>
      <p:sp>
        <p:nvSpPr>
          <p:cNvPr id="8" name="Shape 6"/>
          <p:cNvSpPr/>
          <p:nvPr/>
        </p:nvSpPr>
        <p:spPr>
          <a:xfrm>
            <a:off x="2011680" y="2029968"/>
            <a:ext cx="5120640" cy="457200"/>
          </a:xfrm>
          <a:prstGeom prst="rect">
            <a:avLst/>
          </a:prstGeom>
          <a:solidFill>
            <a:srgbClr val="E9EAEC"/>
          </a:solidFill>
          <a:ln w="6350">
            <a:solidFill>
              <a:srgbClr val="D1D5DB"/>
            </a:solidFill>
            <a:prstDash val="solid"/>
          </a:ln>
          <a:effectLst>
            <a:outerShdw sx="100000" sy="100000" kx="0" ky="0" algn="bl" rotWithShape="0" blurRad="63500" dist="25400" dir="8100000">
              <a:srgbClr val="000000">
                <a:alpha val="7000"/>
              </a:srgbClr>
            </a:outerShdw>
          </a:effectLst>
        </p:spPr>
      </p:sp>
      <p:sp>
        <p:nvSpPr>
          <p:cNvPr id="9" name="Text 7"/>
          <p:cNvSpPr/>
          <p:nvPr/>
        </p:nvSpPr>
        <p:spPr>
          <a:xfrm>
            <a:off x="2011680" y="2029968"/>
            <a:ext cx="5120640" cy="457200"/>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Gate 1 — AI Review   (Claude / Copilot Chat)</a:t>
            </a:r>
            <a:endParaRPr lang="en-US" sz="1200" dirty="0"/>
          </a:p>
        </p:txBody>
      </p:sp>
      <p:sp>
        <p:nvSpPr>
          <p:cNvPr id="10" name="Text 8"/>
          <p:cNvSpPr/>
          <p:nvPr/>
        </p:nvSpPr>
        <p:spPr>
          <a:xfrm>
            <a:off x="2011680" y="2304288"/>
            <a:ext cx="5120640" cy="256032"/>
          </a:xfrm>
          <a:prstGeom prst="rect">
            <a:avLst/>
          </a:prstGeom>
          <a:noFill/>
          <a:ln/>
        </p:spPr>
        <p:txBody>
          <a:bodyPr wrap="square" lIns="0" tIns="0" rIns="0" bIns="0" rtlCol="0" anchor="ctr"/>
          <a:lstStyle/>
          <a:p>
            <a:pPr algn="ctr" indent="0" marL="0">
              <a:buNone/>
            </a:pPr>
            <a:r>
              <a:rPr lang="en-US" sz="900" dirty="0">
                <a:solidFill>
                  <a:srgbClr val="A0A8B3"/>
                </a:solidFill>
                <a:latin typeface="Calibri" pitchFamily="34" charset="0"/>
                <a:ea typeface="Calibri" pitchFamily="34" charset="-122"/>
                <a:cs typeface="Calibri" pitchFamily="34" charset="-120"/>
              </a:rPr>
              <a:t>Logic gaps · edge cases · pattern check</a:t>
            </a:r>
            <a:endParaRPr lang="en-US" sz="900" dirty="0"/>
          </a:p>
        </p:txBody>
      </p:sp>
      <p:sp>
        <p:nvSpPr>
          <p:cNvPr id="11" name="Shape 9"/>
          <p:cNvSpPr/>
          <p:nvPr/>
        </p:nvSpPr>
        <p:spPr>
          <a:xfrm>
            <a:off x="4572000" y="2487168"/>
            <a:ext cx="0" cy="201168"/>
          </a:xfrm>
          <a:prstGeom prst="line">
            <a:avLst/>
          </a:prstGeom>
          <a:noFill/>
          <a:ln w="12700">
            <a:solidFill>
              <a:srgbClr val="D1D5DB"/>
            </a:solidFill>
            <a:prstDash val="solid"/>
          </a:ln>
        </p:spPr>
      </p:sp>
      <p:sp>
        <p:nvSpPr>
          <p:cNvPr id="12" name="Shape 10"/>
          <p:cNvSpPr/>
          <p:nvPr/>
        </p:nvSpPr>
        <p:spPr>
          <a:xfrm>
            <a:off x="2834640" y="2688336"/>
            <a:ext cx="3474720" cy="457200"/>
          </a:xfrm>
          <a:prstGeom prst="rect">
            <a:avLst/>
          </a:prstGeom>
          <a:solidFill>
            <a:srgbClr val="111111"/>
          </a:solidFill>
          <a:ln w="12700">
            <a:solidFill>
              <a:srgbClr val="111111"/>
            </a:solidFill>
            <a:prstDash val="solid"/>
          </a:ln>
          <a:effectLst>
            <a:outerShdw sx="100000" sy="100000" kx="0" ky="0" algn="bl" rotWithShape="0" blurRad="63500" dist="25400" dir="8100000">
              <a:srgbClr val="000000">
                <a:alpha val="7000"/>
              </a:srgbClr>
            </a:outerShdw>
          </a:effectLst>
        </p:spPr>
      </p:sp>
      <p:sp>
        <p:nvSpPr>
          <p:cNvPr id="13" name="Text 11"/>
          <p:cNvSpPr/>
          <p:nvPr/>
        </p:nvSpPr>
        <p:spPr>
          <a:xfrm>
            <a:off x="2834640" y="2688336"/>
            <a:ext cx="34747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Gate 2 — Human Review   (Peer / Lead)</a:t>
            </a:r>
            <a:endParaRPr lang="en-US" sz="1200" dirty="0"/>
          </a:p>
        </p:txBody>
      </p:sp>
      <p:sp>
        <p:nvSpPr>
          <p:cNvPr id="14" name="Shape 12"/>
          <p:cNvSpPr/>
          <p:nvPr/>
        </p:nvSpPr>
        <p:spPr>
          <a:xfrm>
            <a:off x="4572000" y="3145536"/>
            <a:ext cx="0" cy="201168"/>
          </a:xfrm>
          <a:prstGeom prst="line">
            <a:avLst/>
          </a:prstGeom>
          <a:noFill/>
          <a:ln w="12700">
            <a:solidFill>
              <a:srgbClr val="D1D5DB"/>
            </a:solidFill>
            <a:prstDash val="solid"/>
          </a:ln>
        </p:spPr>
      </p:sp>
      <p:sp>
        <p:nvSpPr>
          <p:cNvPr id="15" name="Shape 13"/>
          <p:cNvSpPr/>
          <p:nvPr/>
        </p:nvSpPr>
        <p:spPr>
          <a:xfrm>
            <a:off x="3291840" y="3346704"/>
            <a:ext cx="2560320" cy="365760"/>
          </a:xfrm>
          <a:prstGeom prst="rect">
            <a:avLst/>
          </a:prstGeom>
          <a:solidFill>
            <a:srgbClr val="FFFFFF"/>
          </a:solidFill>
          <a:ln w="6350">
            <a:solidFill>
              <a:srgbClr val="111111"/>
            </a:solidFill>
            <a:prstDash val="solid"/>
          </a:ln>
        </p:spPr>
      </p:sp>
      <p:sp>
        <p:nvSpPr>
          <p:cNvPr id="16" name="Text 14"/>
          <p:cNvSpPr/>
          <p:nvPr/>
        </p:nvSpPr>
        <p:spPr>
          <a:xfrm>
            <a:off x="3291840" y="3346704"/>
            <a:ext cx="2560320" cy="365760"/>
          </a:xfrm>
          <a:prstGeom prst="rect">
            <a:avLst/>
          </a:prstGeom>
          <a:noFill/>
          <a:ln/>
        </p:spPr>
        <p:txBody>
          <a:bodyPr wrap="square" lIns="0" tIns="0" rIns="0" bIns="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Approved for merge ✓</a:t>
            </a:r>
            <a:endParaRPr lang="en-US" sz="1200" dirty="0"/>
          </a:p>
        </p:txBody>
      </p:sp>
      <p:sp>
        <p:nvSpPr>
          <p:cNvPr id="17" name="Shape 15"/>
          <p:cNvSpPr/>
          <p:nvPr/>
        </p:nvSpPr>
        <p:spPr>
          <a:xfrm>
            <a:off x="7132320" y="2487168"/>
            <a:ext cx="914400" cy="685800"/>
          </a:xfrm>
          <a:prstGeom prst="line">
            <a:avLst/>
          </a:prstGeom>
          <a:noFill/>
          <a:ln w="12700">
            <a:solidFill>
              <a:srgbClr val="A0A8B3"/>
            </a:solidFill>
            <a:prstDash val="dash"/>
          </a:ln>
        </p:spPr>
      </p:sp>
      <p:sp>
        <p:nvSpPr>
          <p:cNvPr id="18" name="Text 16"/>
          <p:cNvSpPr/>
          <p:nvPr/>
        </p:nvSpPr>
        <p:spPr>
          <a:xfrm>
            <a:off x="7178040" y="2651760"/>
            <a:ext cx="1371600" cy="219456"/>
          </a:xfrm>
          <a:prstGeom prst="rect">
            <a:avLst/>
          </a:prstGeom>
          <a:noFill/>
          <a:ln/>
        </p:spPr>
        <p:txBody>
          <a:bodyPr wrap="square" lIns="0" tIns="0" rIns="0" bIns="0" rtlCol="0" anchor="ctr"/>
          <a:lstStyle/>
          <a:p>
            <a:pPr algn="l" indent="0" marL="0">
              <a:buNone/>
            </a:pPr>
            <a:r>
              <a:rPr lang="en-US" sz="850" i="1" dirty="0">
                <a:solidFill>
                  <a:srgbClr val="A0A8B3"/>
                </a:solidFill>
                <a:latin typeface="Calibri" pitchFamily="34" charset="0"/>
                <a:ea typeface="Calibri" pitchFamily="34" charset="-122"/>
                <a:cs typeface="Calibri" pitchFamily="34" charset="-120"/>
              </a:rPr>
              <a:t>skip Gate 2</a:t>
            </a:r>
            <a:endParaRPr lang="en-US" sz="850" dirty="0"/>
          </a:p>
        </p:txBody>
      </p:sp>
      <p:sp>
        <p:nvSpPr>
          <p:cNvPr id="19" name="Text 17"/>
          <p:cNvSpPr/>
          <p:nvPr/>
        </p:nvSpPr>
        <p:spPr>
          <a:xfrm>
            <a:off x="7178040" y="2852928"/>
            <a:ext cx="1371600" cy="219456"/>
          </a:xfrm>
          <a:prstGeom prst="rect">
            <a:avLst/>
          </a:prstGeom>
          <a:noFill/>
          <a:ln/>
        </p:spPr>
        <p:txBody>
          <a:bodyPr wrap="square" lIns="0" tIns="0" rIns="0" bIns="0" rtlCol="0" anchor="ctr"/>
          <a:lstStyle/>
          <a:p>
            <a:pPr algn="l" indent="0" marL="0">
              <a:buNone/>
            </a:pPr>
            <a:r>
              <a:rPr lang="en-US" sz="850" dirty="0">
                <a:solidFill>
                  <a:srgbClr val="6B7280"/>
                </a:solidFill>
                <a:latin typeface="Calibri" pitchFamily="34" charset="0"/>
                <a:ea typeface="Calibri" pitchFamily="34" charset="-122"/>
                <a:cs typeface="Calibri" pitchFamily="34" charset="-120"/>
              </a:rPr>
              <a:t>→ prod bug</a:t>
            </a:r>
            <a:endParaRPr lang="en-US" sz="850" dirty="0"/>
          </a:p>
        </p:txBody>
      </p:sp>
      <p:sp>
        <p:nvSpPr>
          <p:cNvPr id="20" name="Shape 18"/>
          <p:cNvSpPr/>
          <p:nvPr/>
        </p:nvSpPr>
        <p:spPr>
          <a:xfrm>
            <a:off x="502920" y="3584448"/>
            <a:ext cx="8138160" cy="0"/>
          </a:xfrm>
          <a:prstGeom prst="line">
            <a:avLst/>
          </a:prstGeom>
          <a:noFill/>
          <a:ln w="6350">
            <a:solidFill>
              <a:srgbClr val="E5E7EB"/>
            </a:solidFill>
            <a:prstDash val="solid"/>
          </a:ln>
        </p:spPr>
      </p:sp>
      <p:sp>
        <p:nvSpPr>
          <p:cNvPr id="21" name="Text 19"/>
          <p:cNvSpPr/>
          <p:nvPr/>
        </p:nvSpPr>
        <p:spPr>
          <a:xfrm>
            <a:off x="502920" y="3621024"/>
            <a:ext cx="2011680" cy="201168"/>
          </a:xfrm>
          <a:prstGeom prst="rect">
            <a:avLst/>
          </a:prstGeom>
          <a:noFill/>
          <a:ln/>
        </p:spPr>
        <p:txBody>
          <a:bodyPr wrap="square" lIns="0" tIns="0" rIns="0" bIns="0" rtlCol="0" anchor="ctr"/>
          <a:lstStyle/>
          <a:p>
            <a:pPr algn="l" indent="0" marL="0">
              <a:buNone/>
            </a:pPr>
            <a:r>
              <a:rPr lang="en-US" sz="1200" b="1" dirty="0">
                <a:solidFill>
                  <a:srgbClr val="6B7280"/>
                </a:solidFill>
                <a:latin typeface="Calibri" pitchFamily="34" charset="0"/>
                <a:ea typeface="Calibri" pitchFamily="34" charset="-122"/>
                <a:cs typeface="Calibri" pitchFamily="34" charset="-120"/>
              </a:rPr>
              <a:t>Cost of finding a bug:</a:t>
            </a:r>
            <a:endParaRPr lang="en-US" sz="1200" dirty="0"/>
          </a:p>
        </p:txBody>
      </p:sp>
      <p:sp>
        <p:nvSpPr>
          <p:cNvPr id="22" name="Shape 20"/>
          <p:cNvSpPr/>
          <p:nvPr/>
        </p:nvSpPr>
        <p:spPr>
          <a:xfrm>
            <a:off x="2606040" y="4425696"/>
            <a:ext cx="1005840" cy="73152"/>
          </a:xfrm>
          <a:prstGeom prst="rect">
            <a:avLst/>
          </a:prstGeom>
          <a:solidFill>
            <a:srgbClr val="6B7280"/>
          </a:solidFill>
          <a:ln w="12700">
            <a:solidFill>
              <a:srgbClr val="6B7280"/>
            </a:solidFill>
            <a:prstDash val="solid"/>
          </a:ln>
        </p:spPr>
      </p:sp>
      <p:sp>
        <p:nvSpPr>
          <p:cNvPr id="23" name="Text 21"/>
          <p:cNvSpPr/>
          <p:nvPr/>
        </p:nvSpPr>
        <p:spPr>
          <a:xfrm>
            <a:off x="2606040" y="3584448"/>
            <a:ext cx="1005840" cy="237744"/>
          </a:xfrm>
          <a:prstGeom prst="rect">
            <a:avLst/>
          </a:prstGeom>
          <a:noFill/>
          <a:ln/>
        </p:spPr>
        <p:txBody>
          <a:bodyPr wrap="square" lIns="0" tIns="0" rIns="0" bIns="0"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1×</a:t>
            </a:r>
            <a:endParaRPr lang="en-US" sz="1600" dirty="0"/>
          </a:p>
        </p:txBody>
      </p:sp>
      <p:sp>
        <p:nvSpPr>
          <p:cNvPr id="24" name="Text 22"/>
          <p:cNvSpPr/>
          <p:nvPr/>
        </p:nvSpPr>
        <p:spPr>
          <a:xfrm>
            <a:off x="2606040" y="4517136"/>
            <a:ext cx="10058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Dev</a:t>
            </a:r>
            <a:endParaRPr lang="en-US" sz="850" dirty="0"/>
          </a:p>
        </p:txBody>
      </p:sp>
      <p:sp>
        <p:nvSpPr>
          <p:cNvPr id="25" name="Shape 23"/>
          <p:cNvSpPr/>
          <p:nvPr/>
        </p:nvSpPr>
        <p:spPr>
          <a:xfrm>
            <a:off x="3813048" y="4315968"/>
            <a:ext cx="1005840" cy="182880"/>
          </a:xfrm>
          <a:prstGeom prst="rect">
            <a:avLst/>
          </a:prstGeom>
          <a:solidFill>
            <a:srgbClr val="6B7280"/>
          </a:solidFill>
          <a:ln w="12700">
            <a:solidFill>
              <a:srgbClr val="6B7280"/>
            </a:solidFill>
            <a:prstDash val="solid"/>
          </a:ln>
        </p:spPr>
      </p:sp>
      <p:sp>
        <p:nvSpPr>
          <p:cNvPr id="26" name="Text 24"/>
          <p:cNvSpPr/>
          <p:nvPr/>
        </p:nvSpPr>
        <p:spPr>
          <a:xfrm>
            <a:off x="3813048" y="3584448"/>
            <a:ext cx="1005840" cy="237744"/>
          </a:xfrm>
          <a:prstGeom prst="rect">
            <a:avLst/>
          </a:prstGeom>
          <a:noFill/>
          <a:ln/>
        </p:spPr>
        <p:txBody>
          <a:bodyPr wrap="square" lIns="0" tIns="0" rIns="0" bIns="0"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2×</a:t>
            </a:r>
            <a:endParaRPr lang="en-US" sz="1600" dirty="0"/>
          </a:p>
        </p:txBody>
      </p:sp>
      <p:sp>
        <p:nvSpPr>
          <p:cNvPr id="27" name="Text 25"/>
          <p:cNvSpPr/>
          <p:nvPr/>
        </p:nvSpPr>
        <p:spPr>
          <a:xfrm>
            <a:off x="3813048" y="4517136"/>
            <a:ext cx="10058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Review</a:t>
            </a:r>
            <a:endParaRPr lang="en-US" sz="850" dirty="0"/>
          </a:p>
        </p:txBody>
      </p:sp>
      <p:sp>
        <p:nvSpPr>
          <p:cNvPr id="28" name="Shape 26"/>
          <p:cNvSpPr/>
          <p:nvPr/>
        </p:nvSpPr>
        <p:spPr>
          <a:xfrm>
            <a:off x="5020056" y="4206240"/>
            <a:ext cx="1005840" cy="292608"/>
          </a:xfrm>
          <a:prstGeom prst="rect">
            <a:avLst/>
          </a:prstGeom>
          <a:solidFill>
            <a:srgbClr val="6B7280"/>
          </a:solidFill>
          <a:ln w="12700">
            <a:solidFill>
              <a:srgbClr val="6B7280"/>
            </a:solidFill>
            <a:prstDash val="solid"/>
          </a:ln>
        </p:spPr>
      </p:sp>
      <p:sp>
        <p:nvSpPr>
          <p:cNvPr id="29" name="Text 27"/>
          <p:cNvSpPr/>
          <p:nvPr/>
        </p:nvSpPr>
        <p:spPr>
          <a:xfrm>
            <a:off x="5020056" y="3584448"/>
            <a:ext cx="1005840" cy="237744"/>
          </a:xfrm>
          <a:prstGeom prst="rect">
            <a:avLst/>
          </a:prstGeom>
          <a:noFill/>
          <a:ln/>
        </p:spPr>
        <p:txBody>
          <a:bodyPr wrap="square" lIns="0" tIns="0" rIns="0" bIns="0"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5020056" y="4517136"/>
            <a:ext cx="10058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Testing</a:t>
            </a:r>
            <a:endParaRPr lang="en-US" sz="850" dirty="0"/>
          </a:p>
        </p:txBody>
      </p:sp>
      <p:sp>
        <p:nvSpPr>
          <p:cNvPr id="31" name="Shape 29"/>
          <p:cNvSpPr/>
          <p:nvPr/>
        </p:nvSpPr>
        <p:spPr>
          <a:xfrm>
            <a:off x="6227064" y="4096512"/>
            <a:ext cx="1005840" cy="402336"/>
          </a:xfrm>
          <a:prstGeom prst="rect">
            <a:avLst/>
          </a:prstGeom>
          <a:solidFill>
            <a:srgbClr val="6B7280"/>
          </a:solidFill>
          <a:ln w="12700">
            <a:solidFill>
              <a:srgbClr val="6B7280"/>
            </a:solidFill>
            <a:prstDash val="solid"/>
          </a:ln>
        </p:spPr>
      </p:sp>
      <p:sp>
        <p:nvSpPr>
          <p:cNvPr id="32" name="Text 30"/>
          <p:cNvSpPr/>
          <p:nvPr/>
        </p:nvSpPr>
        <p:spPr>
          <a:xfrm>
            <a:off x="6227064" y="3584448"/>
            <a:ext cx="1005840" cy="237744"/>
          </a:xfrm>
          <a:prstGeom prst="rect">
            <a:avLst/>
          </a:prstGeom>
          <a:noFill/>
          <a:ln/>
        </p:spPr>
        <p:txBody>
          <a:bodyPr wrap="square" lIns="0" tIns="0" rIns="0" bIns="0"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7×</a:t>
            </a:r>
            <a:endParaRPr lang="en-US" sz="1600" dirty="0"/>
          </a:p>
        </p:txBody>
      </p:sp>
      <p:sp>
        <p:nvSpPr>
          <p:cNvPr id="33" name="Text 31"/>
          <p:cNvSpPr/>
          <p:nvPr/>
        </p:nvSpPr>
        <p:spPr>
          <a:xfrm>
            <a:off x="6227064" y="4517136"/>
            <a:ext cx="10058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Staging</a:t>
            </a:r>
            <a:endParaRPr lang="en-US" sz="850" dirty="0"/>
          </a:p>
        </p:txBody>
      </p:sp>
      <p:sp>
        <p:nvSpPr>
          <p:cNvPr id="34" name="Shape 32"/>
          <p:cNvSpPr/>
          <p:nvPr/>
        </p:nvSpPr>
        <p:spPr>
          <a:xfrm>
            <a:off x="7434072" y="3986784"/>
            <a:ext cx="1005840" cy="512064"/>
          </a:xfrm>
          <a:prstGeom prst="rect">
            <a:avLst/>
          </a:prstGeom>
          <a:solidFill>
            <a:srgbClr val="111111"/>
          </a:solidFill>
          <a:ln w="12700">
            <a:solidFill>
              <a:srgbClr val="111111"/>
            </a:solidFill>
            <a:prstDash val="solid"/>
          </a:ln>
        </p:spPr>
      </p:sp>
      <p:sp>
        <p:nvSpPr>
          <p:cNvPr id="35" name="Text 33"/>
          <p:cNvSpPr/>
          <p:nvPr/>
        </p:nvSpPr>
        <p:spPr>
          <a:xfrm>
            <a:off x="7434072" y="3584448"/>
            <a:ext cx="1005840" cy="237744"/>
          </a:xfrm>
          <a:prstGeom prst="rect">
            <a:avLst/>
          </a:prstGeom>
          <a:noFill/>
          <a:ln/>
        </p:spPr>
        <p:txBody>
          <a:bodyPr wrap="square" lIns="0" tIns="0" rIns="0" bIns="0"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10×</a:t>
            </a:r>
            <a:endParaRPr lang="en-US" sz="1600" dirty="0"/>
          </a:p>
        </p:txBody>
      </p:sp>
      <p:sp>
        <p:nvSpPr>
          <p:cNvPr id="36" name="Text 34"/>
          <p:cNvSpPr/>
          <p:nvPr/>
        </p:nvSpPr>
        <p:spPr>
          <a:xfrm>
            <a:off x="7434072" y="4517136"/>
            <a:ext cx="10058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Production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13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You still drive. GPS is not the driver.</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8138160" cy="676656"/>
          </a:xfrm>
          <a:prstGeom prst="rect">
            <a:avLst/>
          </a:prstGeom>
          <a:solidFill>
            <a:srgbClr val="FFFFFF"/>
          </a:solidFill>
          <a:ln w="6350">
            <a:solidFill>
              <a:srgbClr val="E5E7EB"/>
            </a:solidFill>
            <a:prstDash val="solid"/>
          </a:ln>
        </p:spPr>
      </p:sp>
      <p:sp>
        <p:nvSpPr>
          <p:cNvPr id="6" name="Shape 4"/>
          <p:cNvSpPr/>
          <p:nvPr/>
        </p:nvSpPr>
        <p:spPr>
          <a:xfrm>
            <a:off x="502920" y="1389888"/>
            <a:ext cx="256032" cy="676656"/>
          </a:xfrm>
          <a:prstGeom prst="rect">
            <a:avLst/>
          </a:prstGeom>
          <a:solidFill>
            <a:srgbClr val="3D6B56"/>
          </a:solidFill>
          <a:ln w="12700">
            <a:solidFill>
              <a:srgbClr val="3D6B56"/>
            </a:solidFill>
            <a:prstDash val="solid"/>
          </a:ln>
        </p:spPr>
      </p:sp>
      <p:sp>
        <p:nvSpPr>
          <p:cNvPr id="7" name="Text 5"/>
          <p:cNvSpPr/>
          <p:nvPr/>
        </p:nvSpPr>
        <p:spPr>
          <a:xfrm>
            <a:off x="832104" y="1463040"/>
            <a:ext cx="1371600"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GREEN</a:t>
            </a:r>
            <a:endParaRPr lang="en-US" sz="1600" dirty="0"/>
          </a:p>
        </p:txBody>
      </p:sp>
      <p:sp>
        <p:nvSpPr>
          <p:cNvPr id="8" name="Text 6"/>
          <p:cNvSpPr/>
          <p:nvPr/>
        </p:nvSpPr>
        <p:spPr>
          <a:xfrm>
            <a:off x="832104" y="1755648"/>
            <a:ext cx="1554480" cy="23774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Full delegate</a:t>
            </a:r>
            <a:endParaRPr lang="en-US" sz="1200" dirty="0"/>
          </a:p>
        </p:txBody>
      </p:sp>
      <p:sp>
        <p:nvSpPr>
          <p:cNvPr id="9" name="Shape 7"/>
          <p:cNvSpPr/>
          <p:nvPr/>
        </p:nvSpPr>
        <p:spPr>
          <a:xfrm>
            <a:off x="2468880" y="1481328"/>
            <a:ext cx="0" cy="493776"/>
          </a:xfrm>
          <a:prstGeom prst="line">
            <a:avLst/>
          </a:prstGeom>
          <a:noFill/>
          <a:ln w="6350">
            <a:solidFill>
              <a:srgbClr val="E5E7EB"/>
            </a:solidFill>
            <a:prstDash val="solid"/>
          </a:ln>
        </p:spPr>
      </p:sp>
      <p:sp>
        <p:nvSpPr>
          <p:cNvPr id="10" name="Text 8"/>
          <p:cNvSpPr/>
          <p:nvPr/>
        </p:nvSpPr>
        <p:spPr>
          <a:xfrm>
            <a:off x="2606040" y="1517904"/>
            <a:ext cx="5897880" cy="42062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Boilerplate · CRUD scaffolding · test stubs · PR descriptions · docs</a:t>
            </a:r>
            <a:endParaRPr lang="en-US" sz="1200" dirty="0"/>
          </a:p>
        </p:txBody>
      </p:sp>
      <p:sp>
        <p:nvSpPr>
          <p:cNvPr id="11" name="Shape 9"/>
          <p:cNvSpPr/>
          <p:nvPr/>
        </p:nvSpPr>
        <p:spPr>
          <a:xfrm>
            <a:off x="502920" y="2066544"/>
            <a:ext cx="8138160" cy="676656"/>
          </a:xfrm>
          <a:prstGeom prst="rect">
            <a:avLst/>
          </a:prstGeom>
          <a:solidFill>
            <a:srgbClr val="F3F4F6"/>
          </a:solidFill>
          <a:ln w="6350">
            <a:solidFill>
              <a:srgbClr val="E5E7EB"/>
            </a:solidFill>
            <a:prstDash val="solid"/>
          </a:ln>
        </p:spPr>
      </p:sp>
      <p:sp>
        <p:nvSpPr>
          <p:cNvPr id="12" name="Shape 10"/>
          <p:cNvSpPr/>
          <p:nvPr/>
        </p:nvSpPr>
        <p:spPr>
          <a:xfrm>
            <a:off x="502920" y="2066544"/>
            <a:ext cx="256032" cy="676656"/>
          </a:xfrm>
          <a:prstGeom prst="rect">
            <a:avLst/>
          </a:prstGeom>
          <a:solidFill>
            <a:srgbClr val="7A6420"/>
          </a:solidFill>
          <a:ln w="12700">
            <a:solidFill>
              <a:srgbClr val="7A6420"/>
            </a:solidFill>
            <a:prstDash val="solid"/>
          </a:ln>
        </p:spPr>
      </p:sp>
      <p:sp>
        <p:nvSpPr>
          <p:cNvPr id="13" name="Text 11"/>
          <p:cNvSpPr/>
          <p:nvPr/>
        </p:nvSpPr>
        <p:spPr>
          <a:xfrm>
            <a:off x="832104" y="2139696"/>
            <a:ext cx="1371600"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YELLOW</a:t>
            </a:r>
            <a:endParaRPr lang="en-US" sz="1600" dirty="0"/>
          </a:p>
        </p:txBody>
      </p:sp>
      <p:sp>
        <p:nvSpPr>
          <p:cNvPr id="14" name="Text 12"/>
          <p:cNvSpPr/>
          <p:nvPr/>
        </p:nvSpPr>
        <p:spPr>
          <a:xfrm>
            <a:off x="832104" y="2432304"/>
            <a:ext cx="1554480" cy="23774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Collaborate</a:t>
            </a:r>
            <a:endParaRPr lang="en-US" sz="1200" dirty="0"/>
          </a:p>
        </p:txBody>
      </p:sp>
      <p:sp>
        <p:nvSpPr>
          <p:cNvPr id="15" name="Shape 13"/>
          <p:cNvSpPr/>
          <p:nvPr/>
        </p:nvSpPr>
        <p:spPr>
          <a:xfrm>
            <a:off x="2468880" y="2157984"/>
            <a:ext cx="0" cy="493776"/>
          </a:xfrm>
          <a:prstGeom prst="line">
            <a:avLst/>
          </a:prstGeom>
          <a:noFill/>
          <a:ln w="6350">
            <a:solidFill>
              <a:srgbClr val="E5E7EB"/>
            </a:solidFill>
            <a:prstDash val="solid"/>
          </a:ln>
        </p:spPr>
      </p:sp>
      <p:sp>
        <p:nvSpPr>
          <p:cNvPr id="16" name="Text 14"/>
          <p:cNvSpPr/>
          <p:nvPr/>
        </p:nvSpPr>
        <p:spPr>
          <a:xfrm>
            <a:off x="2606040" y="2194560"/>
            <a:ext cx="5897880" cy="42062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Business logic · integrations · refactoring · query optimisation</a:t>
            </a:r>
            <a:endParaRPr lang="en-US" sz="1200" dirty="0"/>
          </a:p>
        </p:txBody>
      </p:sp>
      <p:sp>
        <p:nvSpPr>
          <p:cNvPr id="17" name="Shape 15"/>
          <p:cNvSpPr/>
          <p:nvPr/>
        </p:nvSpPr>
        <p:spPr>
          <a:xfrm>
            <a:off x="502920" y="2743200"/>
            <a:ext cx="8138160" cy="676656"/>
          </a:xfrm>
          <a:prstGeom prst="rect">
            <a:avLst/>
          </a:prstGeom>
          <a:solidFill>
            <a:srgbClr val="FFFFFF"/>
          </a:solidFill>
          <a:ln w="6350">
            <a:solidFill>
              <a:srgbClr val="E5E7EB"/>
            </a:solidFill>
            <a:prstDash val="solid"/>
          </a:ln>
        </p:spPr>
      </p:sp>
      <p:sp>
        <p:nvSpPr>
          <p:cNvPr id="18" name="Shape 16"/>
          <p:cNvSpPr/>
          <p:nvPr/>
        </p:nvSpPr>
        <p:spPr>
          <a:xfrm>
            <a:off x="502920" y="2743200"/>
            <a:ext cx="256032" cy="676656"/>
          </a:xfrm>
          <a:prstGeom prst="rect">
            <a:avLst/>
          </a:prstGeom>
          <a:solidFill>
            <a:srgbClr val="7A4520"/>
          </a:solidFill>
          <a:ln w="12700">
            <a:solidFill>
              <a:srgbClr val="7A4520"/>
            </a:solidFill>
            <a:prstDash val="solid"/>
          </a:ln>
        </p:spPr>
      </p:sp>
      <p:sp>
        <p:nvSpPr>
          <p:cNvPr id="19" name="Text 17"/>
          <p:cNvSpPr/>
          <p:nvPr/>
        </p:nvSpPr>
        <p:spPr>
          <a:xfrm>
            <a:off x="832104" y="2816352"/>
            <a:ext cx="1371600"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AMBER</a:t>
            </a:r>
            <a:endParaRPr lang="en-US" sz="1600" dirty="0"/>
          </a:p>
        </p:txBody>
      </p:sp>
      <p:sp>
        <p:nvSpPr>
          <p:cNvPr id="20" name="Text 18"/>
          <p:cNvSpPr/>
          <p:nvPr/>
        </p:nvSpPr>
        <p:spPr>
          <a:xfrm>
            <a:off x="832104" y="3108960"/>
            <a:ext cx="1554480" cy="23774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Human-led</a:t>
            </a:r>
            <a:endParaRPr lang="en-US" sz="1200" dirty="0"/>
          </a:p>
        </p:txBody>
      </p:sp>
      <p:sp>
        <p:nvSpPr>
          <p:cNvPr id="21" name="Shape 19"/>
          <p:cNvSpPr/>
          <p:nvPr/>
        </p:nvSpPr>
        <p:spPr>
          <a:xfrm>
            <a:off x="2468880" y="2834640"/>
            <a:ext cx="0" cy="493776"/>
          </a:xfrm>
          <a:prstGeom prst="line">
            <a:avLst/>
          </a:prstGeom>
          <a:noFill/>
          <a:ln w="6350">
            <a:solidFill>
              <a:srgbClr val="E5E7EB"/>
            </a:solidFill>
            <a:prstDash val="solid"/>
          </a:ln>
        </p:spPr>
      </p:sp>
      <p:sp>
        <p:nvSpPr>
          <p:cNvPr id="22" name="Text 20"/>
          <p:cNvSpPr/>
          <p:nvPr/>
        </p:nvSpPr>
        <p:spPr>
          <a:xfrm>
            <a:off x="2606040" y="2871216"/>
            <a:ext cx="5897880" cy="42062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System design · API contracts · data models · critical flows</a:t>
            </a:r>
            <a:endParaRPr lang="en-US" sz="1200" dirty="0"/>
          </a:p>
        </p:txBody>
      </p:sp>
      <p:sp>
        <p:nvSpPr>
          <p:cNvPr id="23" name="Shape 21"/>
          <p:cNvSpPr/>
          <p:nvPr/>
        </p:nvSpPr>
        <p:spPr>
          <a:xfrm>
            <a:off x="502920" y="3419856"/>
            <a:ext cx="8138160" cy="676656"/>
          </a:xfrm>
          <a:prstGeom prst="rect">
            <a:avLst/>
          </a:prstGeom>
          <a:solidFill>
            <a:srgbClr val="F3F4F6"/>
          </a:solidFill>
          <a:ln w="6350">
            <a:solidFill>
              <a:srgbClr val="E5E7EB"/>
            </a:solidFill>
            <a:prstDash val="solid"/>
          </a:ln>
        </p:spPr>
      </p:sp>
      <p:sp>
        <p:nvSpPr>
          <p:cNvPr id="24" name="Shape 22"/>
          <p:cNvSpPr/>
          <p:nvPr/>
        </p:nvSpPr>
        <p:spPr>
          <a:xfrm>
            <a:off x="502920" y="3419856"/>
            <a:ext cx="256032" cy="676656"/>
          </a:xfrm>
          <a:prstGeom prst="rect">
            <a:avLst/>
          </a:prstGeom>
          <a:solidFill>
            <a:srgbClr val="6B2D2D"/>
          </a:solidFill>
          <a:ln w="12700">
            <a:solidFill>
              <a:srgbClr val="6B2D2D"/>
            </a:solidFill>
            <a:prstDash val="solid"/>
          </a:ln>
        </p:spPr>
      </p:sp>
      <p:sp>
        <p:nvSpPr>
          <p:cNvPr id="25" name="Text 23"/>
          <p:cNvSpPr/>
          <p:nvPr/>
        </p:nvSpPr>
        <p:spPr>
          <a:xfrm>
            <a:off x="832104" y="3493008"/>
            <a:ext cx="1371600" cy="292608"/>
          </a:xfrm>
          <a:prstGeom prst="rect">
            <a:avLst/>
          </a:prstGeom>
          <a:noFill/>
          <a:ln/>
        </p:spPr>
        <p:txBody>
          <a:bodyPr wrap="square" lIns="0" tIns="0" rIns="0" bIns="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RED</a:t>
            </a:r>
            <a:endParaRPr lang="en-US" sz="1600" dirty="0"/>
          </a:p>
        </p:txBody>
      </p:sp>
      <p:sp>
        <p:nvSpPr>
          <p:cNvPr id="26" name="Text 24"/>
          <p:cNvSpPr/>
          <p:nvPr/>
        </p:nvSpPr>
        <p:spPr>
          <a:xfrm>
            <a:off x="832104" y="3785616"/>
            <a:ext cx="1554480" cy="23774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Never delegate</a:t>
            </a:r>
            <a:endParaRPr lang="en-US" sz="1200" dirty="0"/>
          </a:p>
        </p:txBody>
      </p:sp>
      <p:sp>
        <p:nvSpPr>
          <p:cNvPr id="27" name="Shape 25"/>
          <p:cNvSpPr/>
          <p:nvPr/>
        </p:nvSpPr>
        <p:spPr>
          <a:xfrm>
            <a:off x="2468880" y="3511296"/>
            <a:ext cx="0" cy="493776"/>
          </a:xfrm>
          <a:prstGeom prst="line">
            <a:avLst/>
          </a:prstGeom>
          <a:noFill/>
          <a:ln w="6350">
            <a:solidFill>
              <a:srgbClr val="E5E7EB"/>
            </a:solidFill>
            <a:prstDash val="solid"/>
          </a:ln>
        </p:spPr>
      </p:sp>
      <p:sp>
        <p:nvSpPr>
          <p:cNvPr id="28" name="Text 26"/>
          <p:cNvSpPr/>
          <p:nvPr/>
        </p:nvSpPr>
        <p:spPr>
          <a:xfrm>
            <a:off x="2606040" y="3547872"/>
            <a:ext cx="5897880" cy="420624"/>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Auth · encryption · PII · production incidents · architecture decisions</a:t>
            </a:r>
            <a:endParaRPr lang="en-US" sz="1200" dirty="0"/>
          </a:p>
        </p:txBody>
      </p:sp>
      <p:sp>
        <p:nvSpPr>
          <p:cNvPr id="29" name="Shape 27"/>
          <p:cNvSpPr/>
          <p:nvPr/>
        </p:nvSpPr>
        <p:spPr>
          <a:xfrm>
            <a:off x="502920" y="4224528"/>
            <a:ext cx="8138160" cy="0"/>
          </a:xfrm>
          <a:prstGeom prst="line">
            <a:avLst/>
          </a:prstGeom>
          <a:noFill/>
          <a:ln w="6350">
            <a:solidFill>
              <a:srgbClr val="E5E7EB"/>
            </a:solidFill>
            <a:prstDash val="solid"/>
          </a:ln>
        </p:spPr>
      </p:sp>
      <p:sp>
        <p:nvSpPr>
          <p:cNvPr id="30" name="Text 28"/>
          <p:cNvSpPr/>
          <p:nvPr/>
        </p:nvSpPr>
        <p:spPr>
          <a:xfrm>
            <a:off x="502920" y="4297680"/>
            <a:ext cx="1828800" cy="237744"/>
          </a:xfrm>
          <a:prstGeom prst="rect">
            <a:avLst/>
          </a:prstGeom>
          <a:noFill/>
          <a:ln/>
        </p:spPr>
        <p:txBody>
          <a:bodyPr wrap="square" lIns="0" tIns="0" rIns="0" bIns="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Ask before every task:</a:t>
            </a:r>
            <a:endParaRPr lang="en-US" sz="1200" dirty="0"/>
          </a:p>
        </p:txBody>
      </p:sp>
      <p:sp>
        <p:nvSpPr>
          <p:cNvPr id="31" name="Text 29"/>
          <p:cNvSpPr/>
          <p:nvPr/>
        </p:nvSpPr>
        <p:spPr>
          <a:xfrm>
            <a:off x="2468880" y="4297680"/>
            <a:ext cx="617220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Can the output be verified quickly?  →  higher delegation</a:t>
            </a:r>
            <a:endParaRPr lang="en-US" sz="1200" dirty="0"/>
          </a:p>
        </p:txBody>
      </p:sp>
      <p:sp>
        <p:nvSpPr>
          <p:cNvPr id="32" name="Text 30"/>
          <p:cNvSpPr/>
          <p:nvPr/>
        </p:nvSpPr>
        <p:spPr>
          <a:xfrm>
            <a:off x="2468880" y="4535424"/>
            <a:ext cx="617220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Does it need context AI doesn't have?  →  lower delegation</a:t>
            </a:r>
            <a:endParaRPr lang="en-US" sz="1200" dirty="0"/>
          </a:p>
        </p:txBody>
      </p:sp>
      <p:sp>
        <p:nvSpPr>
          <p:cNvPr id="33" name="Text 31"/>
          <p:cNvSpPr/>
          <p:nvPr/>
        </p:nvSpPr>
        <p:spPr>
          <a:xfrm>
            <a:off x="2468880" y="4773168"/>
            <a:ext cx="6172200" cy="22860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Could wrong output reach production silently?  →  never delegate</a:t>
            </a:r>
            <a:endParaRPr lang="en-US" sz="1200" dirty="0"/>
          </a:p>
        </p:txBody>
      </p:sp>
      <p:sp>
        <p:nvSpPr>
          <p:cNvPr id="34" name="Text 32"/>
          <p:cNvSpPr/>
          <p:nvPr/>
        </p:nvSpPr>
        <p:spPr>
          <a:xfrm>
            <a:off x="502920" y="5065776"/>
            <a:ext cx="8138160" cy="237744"/>
          </a:xfrm>
          <a:prstGeom prst="rect">
            <a:avLst/>
          </a:prstGeom>
          <a:noFill/>
          <a:ln/>
        </p:spPr>
        <p:txBody>
          <a:bodyPr wrap="square" lIns="0" tIns="0" rIns="0" bIns="0" rtlCol="0" anchor="ctr"/>
          <a:lstStyle/>
          <a:p>
            <a:pPr algn="ctr" indent="0" marL="0">
              <a:buNone/>
            </a:pPr>
            <a:r>
              <a:rPr lang="en-US" sz="1200" i="1" dirty="0">
                <a:solidFill>
                  <a:srgbClr val="A0A8B3"/>
                </a:solidFill>
                <a:latin typeface="Calibri" pitchFamily="34" charset="0"/>
                <a:ea typeface="Calibri" pitchFamily="34" charset="-122"/>
                <a:cs typeface="Calibri" pitchFamily="34" charset="-120"/>
              </a:rPr>
              <a:t>“Delegate the typing. Never delegate the thinking.”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14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111111"/>
                </a:solidFill>
                <a:latin typeface="Calibri" pitchFamily="34" charset="0"/>
                <a:ea typeface="Calibri" pitchFamily="34" charset="-122"/>
                <a:cs typeface="Calibri" pitchFamily="34" charset="-120"/>
              </a:rPr>
              <a:t>GPS or not — road rules still apply.</a:t>
            </a:r>
            <a:endParaRPr lang="en-US" sz="4000" dirty="0"/>
          </a:p>
        </p:txBody>
      </p:sp>
      <p:sp>
        <p:nvSpPr>
          <p:cNvPr id="4" name="Shape 2"/>
          <p:cNvSpPr/>
          <p:nvPr/>
        </p:nvSpPr>
        <p:spPr>
          <a:xfrm>
            <a:off x="502920" y="1024128"/>
            <a:ext cx="8138160" cy="0"/>
          </a:xfrm>
          <a:prstGeom prst="line">
            <a:avLst/>
          </a:prstGeom>
          <a:noFill/>
          <a:ln w="6350">
            <a:solidFill>
              <a:srgbClr val="E5E7EB"/>
            </a:solidFill>
            <a:prstDash val="solid"/>
          </a:ln>
        </p:spPr>
      </p:sp>
      <p:sp>
        <p:nvSpPr>
          <p:cNvPr id="5" name="Shape 3"/>
          <p:cNvSpPr/>
          <p:nvPr/>
        </p:nvSpPr>
        <p:spPr>
          <a:xfrm>
            <a:off x="502920" y="1389888"/>
            <a:ext cx="8138160" cy="1261872"/>
          </a:xfrm>
          <a:prstGeom prst="rect">
            <a:avLst/>
          </a:prstGeom>
          <a:solidFill>
            <a:srgbClr val="111111"/>
          </a:solidFill>
          <a:ln w="12700">
            <a:solidFill>
              <a:srgbClr val="111111"/>
            </a:solidFill>
            <a:prstDash val="solid"/>
          </a:ln>
        </p:spPr>
      </p:sp>
      <p:sp>
        <p:nvSpPr>
          <p:cNvPr id="6" name="Text 4"/>
          <p:cNvSpPr/>
          <p:nvPr/>
        </p:nvSpPr>
        <p:spPr>
          <a:xfrm>
            <a:off x="658368" y="1435608"/>
            <a:ext cx="2286000" cy="256032"/>
          </a:xfrm>
          <a:prstGeom prst="rect">
            <a:avLst/>
          </a:prstGeom>
          <a:noFill/>
          <a:ln/>
        </p:spPr>
        <p:txBody>
          <a:bodyPr wrap="square" lIns="0" tIns="0" rIns="0" bIns="0" rtlCol="0" anchor="ctr"/>
          <a:lstStyle/>
          <a:p>
            <a:pPr algn="l" indent="0" marL="0">
              <a:buNone/>
            </a:pPr>
            <a:r>
              <a:rPr lang="en-US" sz="1000" b="1" spc="100" kern="0" dirty="0">
                <a:solidFill>
                  <a:srgbClr val="888888"/>
                </a:solidFill>
                <a:latin typeface="Calibri" pitchFamily="34" charset="0"/>
                <a:ea typeface="Calibri" pitchFamily="34" charset="-122"/>
                <a:cs typeface="Calibri" pitchFamily="34" charset="-120"/>
              </a:rPr>
              <a:t>Non-negotiables</a:t>
            </a:r>
            <a:endParaRPr lang="en-US" sz="1000" dirty="0"/>
          </a:p>
        </p:txBody>
      </p:sp>
      <p:sp>
        <p:nvSpPr>
          <p:cNvPr id="7" name="Text 5"/>
          <p:cNvSpPr/>
          <p:nvPr/>
        </p:nvSpPr>
        <p:spPr>
          <a:xfrm>
            <a:off x="658368" y="1719072"/>
            <a:ext cx="7772400" cy="164592"/>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1.  All AI-generated code gets human review — no exceptions</a:t>
            </a:r>
            <a:endParaRPr lang="en-US" sz="1050" dirty="0"/>
          </a:p>
        </p:txBody>
      </p:sp>
      <p:sp>
        <p:nvSpPr>
          <p:cNvPr id="8" name="Text 6"/>
          <p:cNvSpPr/>
          <p:nvPr/>
        </p:nvSpPr>
        <p:spPr>
          <a:xfrm>
            <a:off x="658368" y="1883664"/>
            <a:ext cx="7772400" cy="164592"/>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2.  No credentials, API keys, or client data in any AI prompt</a:t>
            </a:r>
            <a:endParaRPr lang="en-US" sz="1050" dirty="0"/>
          </a:p>
        </p:txBody>
      </p:sp>
      <p:sp>
        <p:nvSpPr>
          <p:cNvPr id="9" name="Text 7"/>
          <p:cNvSpPr/>
          <p:nvPr/>
        </p:nvSpPr>
        <p:spPr>
          <a:xfrm>
            <a:off x="658368" y="2048256"/>
            <a:ext cx="7772400" cy="164592"/>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3.  Auth, encryption, PII handling: manual development only</a:t>
            </a:r>
            <a:endParaRPr lang="en-US" sz="1050" dirty="0"/>
          </a:p>
        </p:txBody>
      </p:sp>
      <p:sp>
        <p:nvSpPr>
          <p:cNvPr id="10" name="Text 8"/>
          <p:cNvSpPr/>
          <p:nvPr/>
        </p:nvSpPr>
        <p:spPr>
          <a:xfrm>
            <a:off x="658368" y="2212848"/>
            <a:ext cx="7772400" cy="164592"/>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4.  "Can't explain it → don't commit it" — escalate</a:t>
            </a:r>
            <a:endParaRPr lang="en-US" sz="1050" dirty="0"/>
          </a:p>
        </p:txBody>
      </p:sp>
      <p:sp>
        <p:nvSpPr>
          <p:cNvPr id="11" name="Text 9"/>
          <p:cNvSpPr/>
          <p:nvPr/>
        </p:nvSpPr>
        <p:spPr>
          <a:xfrm>
            <a:off x="658368" y="2377440"/>
            <a:ext cx="7772400" cy="164592"/>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5.  No AI agent with write access to production systems</a:t>
            </a:r>
            <a:endParaRPr lang="en-US" sz="1050" dirty="0"/>
          </a:p>
        </p:txBody>
      </p:sp>
      <p:sp>
        <p:nvSpPr>
          <p:cNvPr id="12" name="Shape 10"/>
          <p:cNvSpPr/>
          <p:nvPr/>
        </p:nvSpPr>
        <p:spPr>
          <a:xfrm>
            <a:off x="502920" y="2834640"/>
            <a:ext cx="3794760" cy="1508760"/>
          </a:xfrm>
          <a:prstGeom prst="rect">
            <a:avLst/>
          </a:prstGeom>
          <a:solidFill>
            <a:srgbClr val="F3F4F6"/>
          </a:solidFill>
          <a:ln w="6350">
            <a:solidFill>
              <a:srgbClr val="E5E7EB"/>
            </a:solidFill>
            <a:prstDash val="solid"/>
          </a:ln>
          <a:effectLst>
            <a:outerShdw sx="100000" sy="100000" kx="0" ky="0" algn="bl" rotWithShape="0" blurRad="63500" dist="25400" dir="8100000">
              <a:srgbClr val="000000">
                <a:alpha val="7000"/>
              </a:srgbClr>
            </a:outerShdw>
          </a:effectLst>
        </p:spPr>
      </p:sp>
      <p:sp>
        <p:nvSpPr>
          <p:cNvPr id="13" name="Text 11"/>
          <p:cNvSpPr/>
          <p:nvPr/>
        </p:nvSpPr>
        <p:spPr>
          <a:xfrm>
            <a:off x="658368" y="2926080"/>
            <a:ext cx="3575304" cy="256032"/>
          </a:xfrm>
          <a:prstGeom prst="rect">
            <a:avLst/>
          </a:prstGeom>
          <a:noFill/>
          <a:ln/>
        </p:spPr>
        <p:txBody>
          <a:bodyPr wrap="square" lIns="0" tIns="0" rIns="0" bIns="0" rtlCol="0" anchor="ctr"/>
          <a:lstStyle/>
          <a:p>
            <a:pPr algn="l" indent="0" marL="0">
              <a:buNone/>
            </a:pPr>
            <a:r>
              <a:rPr lang="en-US" sz="1100" b="1" spc="100" kern="0" dirty="0">
                <a:solidFill>
                  <a:srgbClr val="111111"/>
                </a:solidFill>
                <a:latin typeface="Calibri" pitchFamily="34" charset="0"/>
                <a:ea typeface="Calibri" pitchFamily="34" charset="-122"/>
                <a:cs typeface="Calibri" pitchFamily="34" charset="-120"/>
              </a:rPr>
              <a:t>DO ✓</a:t>
            </a:r>
            <a:endParaRPr lang="en-US" sz="1100" dirty="0"/>
          </a:p>
        </p:txBody>
      </p:sp>
      <p:sp>
        <p:nvSpPr>
          <p:cNvPr id="14" name="Text 12"/>
          <p:cNvSpPr/>
          <p:nvPr/>
        </p:nvSpPr>
        <p:spPr>
          <a:xfrm>
            <a:off x="658368" y="3236976"/>
            <a:ext cx="3483864" cy="256032"/>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Review and understand every AI output before committing</a:t>
            </a:r>
            <a:endParaRPr lang="en-US" sz="1200" dirty="0"/>
          </a:p>
        </p:txBody>
      </p:sp>
      <p:sp>
        <p:nvSpPr>
          <p:cNvPr id="15" name="Text 13"/>
          <p:cNvSpPr/>
          <p:nvPr/>
        </p:nvSpPr>
        <p:spPr>
          <a:xfrm>
            <a:off x="658368" y="3502152"/>
            <a:ext cx="3483864" cy="256032"/>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Use CLAUDE.md and .cursorrules on every active project</a:t>
            </a:r>
            <a:endParaRPr lang="en-US" sz="1200" dirty="0"/>
          </a:p>
        </p:txBody>
      </p:sp>
      <p:sp>
        <p:nvSpPr>
          <p:cNvPr id="16" name="Text 14"/>
          <p:cNvSpPr/>
          <p:nvPr/>
        </p:nvSpPr>
        <p:spPr>
          <a:xfrm>
            <a:off x="658368" y="3767328"/>
            <a:ext cx="3483864" cy="256032"/>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Tag PRs: ai-assisted + tool used</a:t>
            </a:r>
            <a:endParaRPr lang="en-US" sz="1200" dirty="0"/>
          </a:p>
        </p:txBody>
      </p:sp>
      <p:sp>
        <p:nvSpPr>
          <p:cNvPr id="17" name="Text 15"/>
          <p:cNvSpPr/>
          <p:nvPr/>
        </p:nvSpPr>
        <p:spPr>
          <a:xfrm>
            <a:off x="658368" y="4032504"/>
            <a:ext cx="3483864" cy="256032"/>
          </a:xfrm>
          <a:prstGeom prst="rect">
            <a:avLst/>
          </a:prstGeom>
          <a:noFill/>
          <a:ln/>
        </p:spPr>
        <p:txBody>
          <a:bodyPr wrap="square" lIns="0" tIns="0" rIns="0" bIns="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Log AI wins and failures in sprint retros</a:t>
            </a:r>
            <a:endParaRPr lang="en-US" sz="1200" dirty="0"/>
          </a:p>
        </p:txBody>
      </p:sp>
      <p:sp>
        <p:nvSpPr>
          <p:cNvPr id="18" name="Shape 16"/>
          <p:cNvSpPr/>
          <p:nvPr/>
        </p:nvSpPr>
        <p:spPr>
          <a:xfrm>
            <a:off x="4937760" y="2834640"/>
            <a:ext cx="3794760" cy="1508760"/>
          </a:xfrm>
          <a:prstGeom prst="rect">
            <a:avLst/>
          </a:prstGeom>
          <a:solidFill>
            <a:srgbClr val="F3F4F6"/>
          </a:solidFill>
          <a:ln w="6350">
            <a:solidFill>
              <a:srgbClr val="D1D5DB"/>
            </a:solidFill>
            <a:prstDash val="solid"/>
          </a:ln>
          <a:effectLst>
            <a:outerShdw sx="100000" sy="100000" kx="0" ky="0" algn="bl" rotWithShape="0" blurRad="63500" dist="25400" dir="8100000">
              <a:srgbClr val="000000">
                <a:alpha val="7000"/>
              </a:srgbClr>
            </a:outerShdw>
          </a:effectLst>
        </p:spPr>
      </p:sp>
      <p:sp>
        <p:nvSpPr>
          <p:cNvPr id="19" name="Text 17"/>
          <p:cNvSpPr/>
          <p:nvPr/>
        </p:nvSpPr>
        <p:spPr>
          <a:xfrm>
            <a:off x="5093208" y="2926080"/>
            <a:ext cx="3575304" cy="256032"/>
          </a:xfrm>
          <a:prstGeom prst="rect">
            <a:avLst/>
          </a:prstGeom>
          <a:noFill/>
          <a:ln/>
        </p:spPr>
        <p:txBody>
          <a:bodyPr wrap="square" lIns="0" tIns="0" rIns="0" bIns="0" rtlCol="0" anchor="ctr"/>
          <a:lstStyle/>
          <a:p>
            <a:pPr algn="l" indent="0" marL="0">
              <a:buNone/>
            </a:pPr>
            <a:r>
              <a:rPr lang="en-US" sz="1100" b="1" spc="100" kern="0" dirty="0">
                <a:solidFill>
                  <a:srgbClr val="6B7280"/>
                </a:solidFill>
                <a:latin typeface="Calibri" pitchFamily="34" charset="0"/>
                <a:ea typeface="Calibri" pitchFamily="34" charset="-122"/>
                <a:cs typeface="Calibri" pitchFamily="34" charset="-120"/>
              </a:rPr>
              <a:t>DON'T ✗</a:t>
            </a:r>
            <a:endParaRPr lang="en-US" sz="1100" dirty="0"/>
          </a:p>
        </p:txBody>
      </p:sp>
      <p:sp>
        <p:nvSpPr>
          <p:cNvPr id="20" name="Text 18"/>
          <p:cNvSpPr/>
          <p:nvPr/>
        </p:nvSpPr>
        <p:spPr>
          <a:xfrm>
            <a:off x="5093208" y="3236976"/>
            <a:ext cx="3483864" cy="25603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Deploy without validation — even if it compiles</a:t>
            </a:r>
            <a:endParaRPr lang="en-US" sz="1200" dirty="0"/>
          </a:p>
        </p:txBody>
      </p:sp>
      <p:sp>
        <p:nvSpPr>
          <p:cNvPr id="21" name="Text 19"/>
          <p:cNvSpPr/>
          <p:nvPr/>
        </p:nvSpPr>
        <p:spPr>
          <a:xfrm>
            <a:off x="5093208" y="3502152"/>
            <a:ext cx="3483864" cy="25603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Skip human review because "AI already checked it"</a:t>
            </a:r>
            <a:endParaRPr lang="en-US" sz="1200" dirty="0"/>
          </a:p>
        </p:txBody>
      </p:sp>
      <p:sp>
        <p:nvSpPr>
          <p:cNvPr id="22" name="Text 20"/>
          <p:cNvSpPr/>
          <p:nvPr/>
        </p:nvSpPr>
        <p:spPr>
          <a:xfrm>
            <a:off x="5093208" y="3767328"/>
            <a:ext cx="3483864" cy="25603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Let AI make architecture decisions without team sign-off</a:t>
            </a:r>
            <a:endParaRPr lang="en-US" sz="1200" dirty="0"/>
          </a:p>
        </p:txBody>
      </p:sp>
      <p:sp>
        <p:nvSpPr>
          <p:cNvPr id="23" name="Text 21"/>
          <p:cNvSpPr/>
          <p:nvPr/>
        </p:nvSpPr>
        <p:spPr>
          <a:xfrm>
            <a:off x="5093208" y="4032504"/>
            <a:ext cx="3483864" cy="25603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Paste client data or business logic into public AI tools</a:t>
            </a:r>
            <a:endParaRPr lang="en-US" sz="1200" dirty="0"/>
          </a:p>
        </p:txBody>
      </p:sp>
      <p:sp>
        <p:nvSpPr>
          <p:cNvPr id="24" name="Shape 22"/>
          <p:cNvSpPr/>
          <p:nvPr/>
        </p:nvSpPr>
        <p:spPr>
          <a:xfrm>
            <a:off x="502920" y="4462272"/>
            <a:ext cx="8138160" cy="0"/>
          </a:xfrm>
          <a:prstGeom prst="line">
            <a:avLst/>
          </a:prstGeom>
          <a:noFill/>
          <a:ln w="6350">
            <a:solidFill>
              <a:srgbClr val="E5E7EB"/>
            </a:solidFill>
            <a:prstDash val="solid"/>
          </a:ln>
        </p:spPr>
      </p:sp>
      <p:sp>
        <p:nvSpPr>
          <p:cNvPr id="25" name="Text 23"/>
          <p:cNvSpPr/>
          <p:nvPr/>
        </p:nvSpPr>
        <p:spPr>
          <a:xfrm>
            <a:off x="502920" y="4535424"/>
            <a:ext cx="8138160" cy="274320"/>
          </a:xfrm>
          <a:prstGeom prst="rect">
            <a:avLst/>
          </a:prstGeom>
          <a:noFill/>
          <a:ln/>
        </p:spPr>
        <p:txBody>
          <a:bodyPr wrap="square" lIns="0" tIns="0" rIns="0" bIns="0" rtlCol="0" anchor="ctr"/>
          <a:lstStyle/>
          <a:p>
            <a:pPr algn="ctr" indent="0" marL="0">
              <a:buNone/>
            </a:pPr>
            <a:r>
              <a:rPr lang="en-US" sz="1200" b="1" i="1" dirty="0">
                <a:solidFill>
                  <a:srgbClr val="111111"/>
                </a:solidFill>
                <a:latin typeface="Calibri" pitchFamily="34" charset="0"/>
                <a:ea typeface="Calibri" pitchFamily="34" charset="-122"/>
                <a:cs typeface="Calibri" pitchFamily="34" charset="-120"/>
              </a:rPr>
              <a:t>“AI suggests something  →  you can't explain it  →  escalate. Don't commit.”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321040" y="4864608"/>
            <a:ext cx="640080" cy="182880"/>
          </a:xfrm>
          <a:prstGeom prst="rect">
            <a:avLst/>
          </a:prstGeom>
          <a:noFill/>
          <a:ln/>
        </p:spPr>
        <p:txBody>
          <a:bodyPr wrap="square" lIns="0" tIns="0" rIns="0" bIns="0" rtlCol="0" anchor="ctr"/>
          <a:lstStyle/>
          <a:p>
            <a:pPr algn="r" indent="0" marL="0">
              <a:buNone/>
            </a:pPr>
            <a:r>
              <a:rPr lang="en-US" sz="800" dirty="0">
                <a:solidFill>
                  <a:srgbClr val="A0A8B3"/>
                </a:solidFill>
                <a:latin typeface="Calibri" pitchFamily="34" charset="0"/>
                <a:ea typeface="Calibri" pitchFamily="34" charset="-122"/>
                <a:cs typeface="Calibri" pitchFamily="34" charset="-120"/>
              </a:rPr>
              <a:t>15 / 15</a:t>
            </a:r>
            <a:endParaRPr lang="en-US" sz="800" dirty="0"/>
          </a:p>
        </p:txBody>
      </p:sp>
      <p:sp>
        <p:nvSpPr>
          <p:cNvPr id="3" name="Text 1"/>
          <p:cNvSpPr/>
          <p:nvPr/>
        </p:nvSpPr>
        <p:spPr>
          <a:xfrm>
            <a:off x="502920" y="384048"/>
            <a:ext cx="8138160" cy="566928"/>
          </a:xfrm>
          <a:prstGeom prst="rect">
            <a:avLst/>
          </a:prstGeom>
          <a:noFill/>
          <a:ln/>
        </p:spPr>
        <p:txBody>
          <a:bodyPr wrap="square" lIns="0" tIns="0" rIns="0" bIns="0" rtlCol="0" anchor="ctr">
            <a:normAutofit/>
          </a:bodyPr>
          <a:lstStyle/>
          <a:p>
            <a:pPr algn="l" indent="0" marL="0">
              <a:buNone/>
            </a:pPr>
            <a:r>
              <a:rPr lang="en-US" sz="4000" b="1" dirty="0">
                <a:solidFill>
                  <a:srgbClr val="FFFFFF"/>
                </a:solidFill>
                <a:latin typeface="Calibri" pitchFamily="34" charset="0"/>
                <a:ea typeface="Calibri" pitchFamily="34" charset="-122"/>
                <a:cs typeface="Calibri" pitchFamily="34" charset="-120"/>
              </a:rPr>
              <a:t>You can’t improve a route you don’t measure.</a:t>
            </a:r>
            <a:endParaRPr lang="en-US" sz="4000" dirty="0"/>
          </a:p>
        </p:txBody>
      </p:sp>
      <p:sp>
        <p:nvSpPr>
          <p:cNvPr id="4" name="Shape 2"/>
          <p:cNvSpPr/>
          <p:nvPr/>
        </p:nvSpPr>
        <p:spPr>
          <a:xfrm>
            <a:off x="502920" y="1024128"/>
            <a:ext cx="8138160" cy="0"/>
          </a:xfrm>
          <a:prstGeom prst="line">
            <a:avLst/>
          </a:prstGeom>
          <a:noFill/>
          <a:ln w="6350">
            <a:solidFill>
              <a:srgbClr val="333333"/>
            </a:solidFill>
            <a:prstDash val="solid"/>
          </a:ln>
        </p:spPr>
      </p:sp>
      <p:sp>
        <p:nvSpPr>
          <p:cNvPr id="5" name="Shape 3"/>
          <p:cNvSpPr/>
          <p:nvPr/>
        </p:nvSpPr>
        <p:spPr>
          <a:xfrm>
            <a:off x="502920" y="1143000"/>
            <a:ext cx="1920240" cy="640080"/>
          </a:xfrm>
          <a:prstGeom prst="rect">
            <a:avLst/>
          </a:prstGeom>
          <a:solidFill>
            <a:srgbClr val="1E1E1E"/>
          </a:solidFill>
          <a:ln w="6350">
            <a:solidFill>
              <a:srgbClr val="333333"/>
            </a:solidFill>
            <a:prstDash val="solid"/>
          </a:ln>
        </p:spPr>
      </p:sp>
      <p:sp>
        <p:nvSpPr>
          <p:cNvPr id="6" name="Text 4"/>
          <p:cNvSpPr/>
          <p:nvPr/>
        </p:nvSpPr>
        <p:spPr>
          <a:xfrm>
            <a:off x="612648" y="1216152"/>
            <a:ext cx="1700784"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 cycle time</a:t>
            </a:r>
            <a:endParaRPr lang="en-US" sz="1200" dirty="0"/>
          </a:p>
        </p:txBody>
      </p:sp>
      <p:sp>
        <p:nvSpPr>
          <p:cNvPr id="7" name="Text 5"/>
          <p:cNvSpPr/>
          <p:nvPr/>
        </p:nvSpPr>
        <p:spPr>
          <a:xfrm>
            <a:off x="612648" y="1490472"/>
            <a:ext cx="1700784" cy="237744"/>
          </a:xfrm>
          <a:prstGeom prst="rect">
            <a:avLst/>
          </a:prstGeom>
          <a:noFill/>
          <a:ln/>
        </p:spPr>
        <p:txBody>
          <a:bodyPr wrap="square" lIns="0" tIns="0" rIns="0" bIns="0" rtlCol="0" anchor="ctr"/>
          <a:lstStyle/>
          <a:p>
            <a:pPr algn="l" indent="0" marL="0">
              <a:buNone/>
            </a:pPr>
            <a:r>
              <a:rPr lang="en-US" sz="900" dirty="0">
                <a:solidFill>
                  <a:srgbClr val="888888"/>
                </a:solidFill>
                <a:latin typeface="Calibri" pitchFamily="34" charset="0"/>
                <a:ea typeface="Calibri" pitchFamily="34" charset="-122"/>
                <a:cs typeface="Calibri" pitchFamily="34" charset="-120"/>
              </a:rPr>
              <a:t>Git: open → merge (hours)</a:t>
            </a:r>
            <a:endParaRPr lang="en-US" sz="900" dirty="0"/>
          </a:p>
        </p:txBody>
      </p:sp>
      <p:sp>
        <p:nvSpPr>
          <p:cNvPr id="8" name="Shape 6"/>
          <p:cNvSpPr/>
          <p:nvPr/>
        </p:nvSpPr>
        <p:spPr>
          <a:xfrm>
            <a:off x="2532888" y="1143000"/>
            <a:ext cx="1920240" cy="640080"/>
          </a:xfrm>
          <a:prstGeom prst="rect">
            <a:avLst/>
          </a:prstGeom>
          <a:solidFill>
            <a:srgbClr val="1E1E1E"/>
          </a:solidFill>
          <a:ln w="6350">
            <a:solidFill>
              <a:srgbClr val="333333"/>
            </a:solidFill>
            <a:prstDash val="solid"/>
          </a:ln>
        </p:spPr>
      </p:sp>
      <p:sp>
        <p:nvSpPr>
          <p:cNvPr id="9" name="Text 7"/>
          <p:cNvSpPr/>
          <p:nvPr/>
        </p:nvSpPr>
        <p:spPr>
          <a:xfrm>
            <a:off x="2642616" y="1216152"/>
            <a:ext cx="1700784"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Rework rate</a:t>
            </a:r>
            <a:endParaRPr lang="en-US" sz="1200" dirty="0"/>
          </a:p>
        </p:txBody>
      </p:sp>
      <p:sp>
        <p:nvSpPr>
          <p:cNvPr id="10" name="Text 8"/>
          <p:cNvSpPr/>
          <p:nvPr/>
        </p:nvSpPr>
        <p:spPr>
          <a:xfrm>
            <a:off x="2642616" y="1490472"/>
            <a:ext cx="1700784" cy="237744"/>
          </a:xfrm>
          <a:prstGeom prst="rect">
            <a:avLst/>
          </a:prstGeom>
          <a:noFill/>
          <a:ln/>
        </p:spPr>
        <p:txBody>
          <a:bodyPr wrap="square" lIns="0" tIns="0" rIns="0" bIns="0" rtlCol="0" anchor="ctr"/>
          <a:lstStyle/>
          <a:p>
            <a:pPr algn="l" indent="0" marL="0">
              <a:buNone/>
            </a:pPr>
            <a:r>
              <a:rPr lang="en-US" sz="900" dirty="0">
                <a:solidFill>
                  <a:srgbClr val="888888"/>
                </a:solidFill>
                <a:latin typeface="Calibri" pitchFamily="34" charset="0"/>
                <a:ea typeface="Calibri" pitchFamily="34" charset="-122"/>
                <a:cs typeface="Calibri" pitchFamily="34" charset="-120"/>
              </a:rPr>
              <a:t>PRs needing &gt;1 review (%)</a:t>
            </a:r>
            <a:endParaRPr lang="en-US" sz="900" dirty="0"/>
          </a:p>
        </p:txBody>
      </p:sp>
      <p:sp>
        <p:nvSpPr>
          <p:cNvPr id="11" name="Shape 9"/>
          <p:cNvSpPr/>
          <p:nvPr/>
        </p:nvSpPr>
        <p:spPr>
          <a:xfrm>
            <a:off x="4562856" y="1143000"/>
            <a:ext cx="1920240" cy="640080"/>
          </a:xfrm>
          <a:prstGeom prst="rect">
            <a:avLst/>
          </a:prstGeom>
          <a:solidFill>
            <a:srgbClr val="1E1E1E"/>
          </a:solidFill>
          <a:ln w="6350">
            <a:solidFill>
              <a:srgbClr val="333333"/>
            </a:solidFill>
            <a:prstDash val="solid"/>
          </a:ln>
        </p:spPr>
      </p:sp>
      <p:sp>
        <p:nvSpPr>
          <p:cNvPr id="12" name="Text 10"/>
          <p:cNvSpPr/>
          <p:nvPr/>
        </p:nvSpPr>
        <p:spPr>
          <a:xfrm>
            <a:off x="4672584" y="1216152"/>
            <a:ext cx="1700784"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AI-assist rate</a:t>
            </a:r>
            <a:endParaRPr lang="en-US" sz="1200" dirty="0"/>
          </a:p>
        </p:txBody>
      </p:sp>
      <p:sp>
        <p:nvSpPr>
          <p:cNvPr id="13" name="Text 11"/>
          <p:cNvSpPr/>
          <p:nvPr/>
        </p:nvSpPr>
        <p:spPr>
          <a:xfrm>
            <a:off x="4672584" y="1490472"/>
            <a:ext cx="1700784" cy="237744"/>
          </a:xfrm>
          <a:prstGeom prst="rect">
            <a:avLst/>
          </a:prstGeom>
          <a:noFill/>
          <a:ln/>
        </p:spPr>
        <p:txBody>
          <a:bodyPr wrap="square" lIns="0" tIns="0" rIns="0" bIns="0" rtlCol="0" anchor="ctr"/>
          <a:lstStyle/>
          <a:p>
            <a:pPr algn="l" indent="0" marL="0">
              <a:buNone/>
            </a:pPr>
            <a:r>
              <a:rPr lang="en-US" sz="900" dirty="0">
                <a:solidFill>
                  <a:srgbClr val="888888"/>
                </a:solidFill>
                <a:latin typeface="Calibri" pitchFamily="34" charset="0"/>
                <a:ea typeface="Calibri" pitchFamily="34" charset="-122"/>
                <a:cs typeface="Calibri" pitchFamily="34" charset="-120"/>
              </a:rPr>
              <a:t>Self-reported per sprint</a:t>
            </a:r>
            <a:endParaRPr lang="en-US" sz="900" dirty="0"/>
          </a:p>
        </p:txBody>
      </p:sp>
      <p:sp>
        <p:nvSpPr>
          <p:cNvPr id="14" name="Shape 12"/>
          <p:cNvSpPr/>
          <p:nvPr/>
        </p:nvSpPr>
        <p:spPr>
          <a:xfrm>
            <a:off x="6592824" y="1143000"/>
            <a:ext cx="1920240" cy="640080"/>
          </a:xfrm>
          <a:prstGeom prst="rect">
            <a:avLst/>
          </a:prstGeom>
          <a:solidFill>
            <a:srgbClr val="1E1E1E"/>
          </a:solidFill>
          <a:ln w="6350">
            <a:solidFill>
              <a:srgbClr val="333333"/>
            </a:solidFill>
            <a:prstDash val="solid"/>
          </a:ln>
        </p:spPr>
      </p:sp>
      <p:sp>
        <p:nvSpPr>
          <p:cNvPr id="15" name="Text 13"/>
          <p:cNvSpPr/>
          <p:nvPr/>
        </p:nvSpPr>
        <p:spPr>
          <a:xfrm>
            <a:off x="6702552" y="1216152"/>
            <a:ext cx="1700784"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Defect escape</a:t>
            </a:r>
            <a:endParaRPr lang="en-US" sz="1200" dirty="0"/>
          </a:p>
        </p:txBody>
      </p:sp>
      <p:sp>
        <p:nvSpPr>
          <p:cNvPr id="16" name="Text 14"/>
          <p:cNvSpPr/>
          <p:nvPr/>
        </p:nvSpPr>
        <p:spPr>
          <a:xfrm>
            <a:off x="6702552" y="1490472"/>
            <a:ext cx="1700784" cy="237744"/>
          </a:xfrm>
          <a:prstGeom prst="rect">
            <a:avLst/>
          </a:prstGeom>
          <a:noFill/>
          <a:ln/>
        </p:spPr>
        <p:txBody>
          <a:bodyPr wrap="square" lIns="0" tIns="0" rIns="0" bIns="0" rtlCol="0" anchor="ctr"/>
          <a:lstStyle/>
          <a:p>
            <a:pPr algn="l" indent="0" marL="0">
              <a:buNone/>
            </a:pPr>
            <a:r>
              <a:rPr lang="en-US" sz="900" dirty="0">
                <a:solidFill>
                  <a:srgbClr val="888888"/>
                </a:solidFill>
                <a:latin typeface="Calibri" pitchFamily="34" charset="0"/>
                <a:ea typeface="Calibri" pitchFamily="34" charset="-122"/>
                <a:cs typeface="Calibri" pitchFamily="34" charset="-120"/>
              </a:rPr>
              <a:t>Bugs found post-merge</a:t>
            </a:r>
            <a:endParaRPr lang="en-US" sz="900" dirty="0"/>
          </a:p>
        </p:txBody>
      </p:sp>
      <p:sp>
        <p:nvSpPr>
          <p:cNvPr id="17" name="Shape 15"/>
          <p:cNvSpPr/>
          <p:nvPr/>
        </p:nvSpPr>
        <p:spPr>
          <a:xfrm>
            <a:off x="502920" y="1938528"/>
            <a:ext cx="8138160" cy="0"/>
          </a:xfrm>
          <a:prstGeom prst="line">
            <a:avLst/>
          </a:prstGeom>
          <a:noFill/>
          <a:ln w="6350">
            <a:solidFill>
              <a:srgbClr val="333333"/>
            </a:solidFill>
            <a:prstDash val="solid"/>
          </a:ln>
        </p:spPr>
      </p:sp>
      <p:sp>
        <p:nvSpPr>
          <p:cNvPr id="18" name="Shape 16"/>
          <p:cNvSpPr/>
          <p:nvPr/>
        </p:nvSpPr>
        <p:spPr>
          <a:xfrm>
            <a:off x="502920" y="2029968"/>
            <a:ext cx="8138160" cy="274320"/>
          </a:xfrm>
          <a:prstGeom prst="rect">
            <a:avLst/>
          </a:prstGeom>
          <a:solidFill>
            <a:srgbClr val="1E1E1E"/>
          </a:solidFill>
          <a:ln w="12700">
            <a:solidFill>
              <a:srgbClr val="1E1E1E"/>
            </a:solidFill>
            <a:prstDash val="solid"/>
          </a:ln>
        </p:spPr>
      </p:sp>
      <p:sp>
        <p:nvSpPr>
          <p:cNvPr id="19" name="Text 17"/>
          <p:cNvSpPr/>
          <p:nvPr/>
        </p:nvSpPr>
        <p:spPr>
          <a:xfrm>
            <a:off x="594360" y="2029968"/>
            <a:ext cx="1280160" cy="274320"/>
          </a:xfrm>
          <a:prstGeom prst="rect">
            <a:avLst/>
          </a:prstGeom>
          <a:noFill/>
          <a:ln/>
        </p:spPr>
        <p:txBody>
          <a:bodyPr wrap="square" lIns="0" tIns="0" rIns="0" bIns="0" rtlCol="0" anchor="ctr"/>
          <a:lstStyle/>
          <a:p>
            <a:pPr algn="l" indent="0" marL="0">
              <a:buNone/>
            </a:pPr>
            <a:r>
              <a:rPr lang="en-US" sz="900" b="1" dirty="0">
                <a:solidFill>
                  <a:srgbClr val="888888"/>
                </a:solidFill>
                <a:latin typeface="Calibri" pitchFamily="34" charset="0"/>
                <a:ea typeface="Calibri" pitchFamily="34" charset="-122"/>
                <a:cs typeface="Calibri" pitchFamily="34" charset="-120"/>
              </a:rPr>
              <a:t>Who</a:t>
            </a:r>
            <a:endParaRPr lang="en-US" sz="900" dirty="0"/>
          </a:p>
        </p:txBody>
      </p:sp>
      <p:sp>
        <p:nvSpPr>
          <p:cNvPr id="20" name="Text 18"/>
          <p:cNvSpPr/>
          <p:nvPr/>
        </p:nvSpPr>
        <p:spPr>
          <a:xfrm>
            <a:off x="1965960" y="2029968"/>
            <a:ext cx="1280160" cy="274320"/>
          </a:xfrm>
          <a:prstGeom prst="rect">
            <a:avLst/>
          </a:prstGeom>
          <a:noFill/>
          <a:ln/>
        </p:spPr>
        <p:txBody>
          <a:bodyPr wrap="square" lIns="0" tIns="0" rIns="0" bIns="0" rtlCol="0" anchor="ctr"/>
          <a:lstStyle/>
          <a:p>
            <a:pPr algn="l" indent="0" marL="0">
              <a:buNone/>
            </a:pPr>
            <a:r>
              <a:rPr lang="en-US" sz="900" b="1" dirty="0">
                <a:solidFill>
                  <a:srgbClr val="888888"/>
                </a:solidFill>
                <a:latin typeface="Calibri" pitchFamily="34" charset="0"/>
                <a:ea typeface="Calibri" pitchFamily="34" charset="-122"/>
                <a:cs typeface="Calibri" pitchFamily="34" charset="-120"/>
              </a:rPr>
              <a:t>Action</a:t>
            </a:r>
            <a:endParaRPr lang="en-US" sz="900" dirty="0"/>
          </a:p>
        </p:txBody>
      </p:sp>
      <p:sp>
        <p:nvSpPr>
          <p:cNvPr id="21" name="Text 19"/>
          <p:cNvSpPr/>
          <p:nvPr/>
        </p:nvSpPr>
        <p:spPr>
          <a:xfrm>
            <a:off x="6812280" y="2029968"/>
            <a:ext cx="1280160" cy="274320"/>
          </a:xfrm>
          <a:prstGeom prst="rect">
            <a:avLst/>
          </a:prstGeom>
          <a:noFill/>
          <a:ln/>
        </p:spPr>
        <p:txBody>
          <a:bodyPr wrap="square" lIns="0" tIns="0" rIns="0" bIns="0" rtlCol="0" anchor="ctr"/>
          <a:lstStyle/>
          <a:p>
            <a:pPr algn="l" indent="0" marL="0">
              <a:buNone/>
            </a:pPr>
            <a:r>
              <a:rPr lang="en-US" sz="900" b="1" dirty="0">
                <a:solidFill>
                  <a:srgbClr val="888888"/>
                </a:solidFill>
                <a:latin typeface="Calibri" pitchFamily="34" charset="0"/>
                <a:ea typeface="Calibri" pitchFamily="34" charset="-122"/>
                <a:cs typeface="Calibri" pitchFamily="34" charset="-120"/>
              </a:rPr>
              <a:t>When</a:t>
            </a:r>
            <a:endParaRPr lang="en-US" sz="900" dirty="0"/>
          </a:p>
        </p:txBody>
      </p:sp>
      <p:sp>
        <p:nvSpPr>
          <p:cNvPr id="22" name="Shape 20"/>
          <p:cNvSpPr/>
          <p:nvPr/>
        </p:nvSpPr>
        <p:spPr>
          <a:xfrm>
            <a:off x="502920" y="2304288"/>
            <a:ext cx="8138160" cy="347472"/>
          </a:xfrm>
          <a:prstGeom prst="rect">
            <a:avLst/>
          </a:prstGeom>
          <a:solidFill>
            <a:srgbClr val="1A1A1A"/>
          </a:solidFill>
          <a:ln w="6350">
            <a:solidFill>
              <a:srgbClr val="333333"/>
            </a:solidFill>
            <a:prstDash val="solid"/>
          </a:ln>
        </p:spPr>
      </p:sp>
      <p:sp>
        <p:nvSpPr>
          <p:cNvPr id="23" name="Text 21"/>
          <p:cNvSpPr/>
          <p:nvPr/>
        </p:nvSpPr>
        <p:spPr>
          <a:xfrm>
            <a:off x="594360" y="2340864"/>
            <a:ext cx="123444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All devs</a:t>
            </a:r>
            <a:endParaRPr lang="en-US" sz="1200" dirty="0"/>
          </a:p>
        </p:txBody>
      </p:sp>
      <p:sp>
        <p:nvSpPr>
          <p:cNvPr id="24" name="Text 22"/>
          <p:cNvSpPr/>
          <p:nvPr/>
        </p:nvSpPr>
        <p:spPr>
          <a:xfrm>
            <a:off x="1965960" y="2340864"/>
            <a:ext cx="470916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Create CLAUDE.md for top 2 active projects</a:t>
            </a:r>
            <a:endParaRPr lang="en-US" sz="1200" dirty="0"/>
          </a:p>
        </p:txBody>
      </p:sp>
      <p:sp>
        <p:nvSpPr>
          <p:cNvPr id="25" name="Text 23"/>
          <p:cNvSpPr/>
          <p:nvPr/>
        </p:nvSpPr>
        <p:spPr>
          <a:xfrm>
            <a:off x="6812280" y="2340864"/>
            <a:ext cx="178308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This sprint</a:t>
            </a:r>
            <a:endParaRPr lang="en-US" sz="1200" dirty="0"/>
          </a:p>
        </p:txBody>
      </p:sp>
      <p:sp>
        <p:nvSpPr>
          <p:cNvPr id="26" name="Shape 24"/>
          <p:cNvSpPr/>
          <p:nvPr/>
        </p:nvSpPr>
        <p:spPr>
          <a:xfrm>
            <a:off x="502920" y="2651760"/>
            <a:ext cx="8138160" cy="347472"/>
          </a:xfrm>
          <a:prstGeom prst="rect">
            <a:avLst/>
          </a:prstGeom>
          <a:solidFill>
            <a:srgbClr val="1A1A1A"/>
          </a:solidFill>
          <a:ln w="6350">
            <a:solidFill>
              <a:srgbClr val="333333"/>
            </a:solidFill>
            <a:prstDash val="solid"/>
          </a:ln>
        </p:spPr>
      </p:sp>
      <p:sp>
        <p:nvSpPr>
          <p:cNvPr id="27" name="Text 25"/>
          <p:cNvSpPr/>
          <p:nvPr/>
        </p:nvSpPr>
        <p:spPr>
          <a:xfrm>
            <a:off x="594360" y="2688336"/>
            <a:ext cx="123444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All devs</a:t>
            </a:r>
            <a:endParaRPr lang="en-US" sz="1200" dirty="0"/>
          </a:p>
        </p:txBody>
      </p:sp>
      <p:sp>
        <p:nvSpPr>
          <p:cNvPr id="28" name="Text 26"/>
          <p:cNvSpPr/>
          <p:nvPr/>
        </p:nvSpPr>
        <p:spPr>
          <a:xfrm>
            <a:off x="1965960" y="2688336"/>
            <a:ext cx="470916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Log AI-assisted tasks in sprint notes</a:t>
            </a:r>
            <a:endParaRPr lang="en-US" sz="1200" dirty="0"/>
          </a:p>
        </p:txBody>
      </p:sp>
      <p:sp>
        <p:nvSpPr>
          <p:cNvPr id="29" name="Text 27"/>
          <p:cNvSpPr/>
          <p:nvPr/>
        </p:nvSpPr>
        <p:spPr>
          <a:xfrm>
            <a:off x="6812280" y="2688336"/>
            <a:ext cx="178308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This sprint</a:t>
            </a:r>
            <a:endParaRPr lang="en-US" sz="1200" dirty="0"/>
          </a:p>
        </p:txBody>
      </p:sp>
      <p:sp>
        <p:nvSpPr>
          <p:cNvPr id="30" name="Shape 28"/>
          <p:cNvSpPr/>
          <p:nvPr/>
        </p:nvSpPr>
        <p:spPr>
          <a:xfrm>
            <a:off x="502920" y="2999232"/>
            <a:ext cx="8138160" cy="347472"/>
          </a:xfrm>
          <a:prstGeom prst="rect">
            <a:avLst/>
          </a:prstGeom>
          <a:solidFill>
            <a:srgbClr val="1A1A1A"/>
          </a:solidFill>
          <a:ln w="6350">
            <a:solidFill>
              <a:srgbClr val="333333"/>
            </a:solidFill>
            <a:prstDash val="solid"/>
          </a:ln>
        </p:spPr>
      </p:sp>
      <p:sp>
        <p:nvSpPr>
          <p:cNvPr id="31" name="Text 29"/>
          <p:cNvSpPr/>
          <p:nvPr/>
        </p:nvSpPr>
        <p:spPr>
          <a:xfrm>
            <a:off x="594360" y="3035808"/>
            <a:ext cx="123444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Tech leads</a:t>
            </a:r>
            <a:endParaRPr lang="en-US" sz="1200" dirty="0"/>
          </a:p>
        </p:txBody>
      </p:sp>
      <p:sp>
        <p:nvSpPr>
          <p:cNvPr id="32" name="Text 30"/>
          <p:cNvSpPr/>
          <p:nvPr/>
        </p:nvSpPr>
        <p:spPr>
          <a:xfrm>
            <a:off x="1965960" y="3035808"/>
            <a:ext cx="470916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Add ai-assisted tag to PR template</a:t>
            </a:r>
            <a:endParaRPr lang="en-US" sz="1200" dirty="0"/>
          </a:p>
        </p:txBody>
      </p:sp>
      <p:sp>
        <p:nvSpPr>
          <p:cNvPr id="33" name="Text 31"/>
          <p:cNvSpPr/>
          <p:nvPr/>
        </p:nvSpPr>
        <p:spPr>
          <a:xfrm>
            <a:off x="6812280" y="3035808"/>
            <a:ext cx="178308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This week</a:t>
            </a:r>
            <a:endParaRPr lang="en-US" sz="1200" dirty="0"/>
          </a:p>
        </p:txBody>
      </p:sp>
      <p:sp>
        <p:nvSpPr>
          <p:cNvPr id="34" name="Shape 32"/>
          <p:cNvSpPr/>
          <p:nvPr/>
        </p:nvSpPr>
        <p:spPr>
          <a:xfrm>
            <a:off x="502920" y="3346704"/>
            <a:ext cx="8138160" cy="347472"/>
          </a:xfrm>
          <a:prstGeom prst="rect">
            <a:avLst/>
          </a:prstGeom>
          <a:solidFill>
            <a:srgbClr val="1A1A1A"/>
          </a:solidFill>
          <a:ln w="6350">
            <a:solidFill>
              <a:srgbClr val="333333"/>
            </a:solidFill>
            <a:prstDash val="solid"/>
          </a:ln>
        </p:spPr>
      </p:sp>
      <p:sp>
        <p:nvSpPr>
          <p:cNvPr id="35" name="Text 33"/>
          <p:cNvSpPr/>
          <p:nvPr/>
        </p:nvSpPr>
        <p:spPr>
          <a:xfrm>
            <a:off x="594360" y="3383280"/>
            <a:ext cx="123444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Architects</a:t>
            </a:r>
            <a:endParaRPr lang="en-US" sz="1200" dirty="0"/>
          </a:p>
        </p:txBody>
      </p:sp>
      <p:sp>
        <p:nvSpPr>
          <p:cNvPr id="36" name="Text 34"/>
          <p:cNvSpPr/>
          <p:nvPr/>
        </p:nvSpPr>
        <p:spPr>
          <a:xfrm>
            <a:off x="1965960" y="3383280"/>
            <a:ext cx="470916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Define AI off-limits zones per project</a:t>
            </a:r>
            <a:endParaRPr lang="en-US" sz="1200" dirty="0"/>
          </a:p>
        </p:txBody>
      </p:sp>
      <p:sp>
        <p:nvSpPr>
          <p:cNvPr id="37" name="Text 35"/>
          <p:cNvSpPr/>
          <p:nvPr/>
        </p:nvSpPr>
        <p:spPr>
          <a:xfrm>
            <a:off x="6812280" y="3383280"/>
            <a:ext cx="178308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This week</a:t>
            </a:r>
            <a:endParaRPr lang="en-US" sz="1200" dirty="0"/>
          </a:p>
        </p:txBody>
      </p:sp>
      <p:sp>
        <p:nvSpPr>
          <p:cNvPr id="38" name="Shape 36"/>
          <p:cNvSpPr/>
          <p:nvPr/>
        </p:nvSpPr>
        <p:spPr>
          <a:xfrm>
            <a:off x="502920" y="3785616"/>
            <a:ext cx="8138160" cy="0"/>
          </a:xfrm>
          <a:prstGeom prst="line">
            <a:avLst/>
          </a:prstGeom>
          <a:noFill/>
          <a:ln w="6350">
            <a:solidFill>
              <a:srgbClr val="333333"/>
            </a:solidFill>
            <a:prstDash val="solid"/>
          </a:ln>
        </p:spPr>
      </p:sp>
      <p:sp>
        <p:nvSpPr>
          <p:cNvPr id="39" name="Text 37"/>
          <p:cNvSpPr/>
          <p:nvPr/>
        </p:nvSpPr>
        <p:spPr>
          <a:xfrm>
            <a:off x="502920" y="3895344"/>
            <a:ext cx="3931920" cy="2560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1.  AI increases speed — not correctness</a:t>
            </a:r>
            <a:endParaRPr lang="en-US" sz="1200" dirty="0"/>
          </a:p>
        </p:txBody>
      </p:sp>
      <p:sp>
        <p:nvSpPr>
          <p:cNvPr id="40" name="Text 38"/>
          <p:cNvSpPr/>
          <p:nvPr/>
        </p:nvSpPr>
        <p:spPr>
          <a:xfrm>
            <a:off x="502920" y="4169664"/>
            <a:ext cx="3931920" cy="2560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2.  Discipline makes the difference — not the tool</a:t>
            </a:r>
            <a:endParaRPr lang="en-US" sz="1200" dirty="0"/>
          </a:p>
        </p:txBody>
      </p:sp>
      <p:sp>
        <p:nvSpPr>
          <p:cNvPr id="41" name="Text 39"/>
          <p:cNvSpPr/>
          <p:nvPr/>
        </p:nvSpPr>
        <p:spPr>
          <a:xfrm>
            <a:off x="4617720" y="3895344"/>
            <a:ext cx="3931920" cy="256032"/>
          </a:xfrm>
          <a:prstGeom prst="rect">
            <a:avLst/>
          </a:prstGeom>
          <a:noFill/>
          <a:ln/>
        </p:spPr>
        <p:txBody>
          <a:bodyPr wrap="square" lIns="0" tIns="0" rIns="0" bIns="0" rtlCol="0" anchor="ctr"/>
          <a:lstStyle/>
          <a:p>
            <a:pPr algn="l" indent="0" marL="0">
              <a:buNone/>
            </a:pPr>
            <a:r>
              <a:rPr lang="en-US" sz="1200" dirty="0">
                <a:solidFill>
                  <a:srgbClr val="888888"/>
                </a:solidFill>
                <a:latin typeface="Calibri" pitchFamily="34" charset="0"/>
                <a:ea typeface="Calibri" pitchFamily="34" charset="-122"/>
                <a:cs typeface="Calibri" pitchFamily="34" charset="-120"/>
              </a:rPr>
              <a:t>3.  Consistency beats individual brilliance</a:t>
            </a:r>
            <a:endParaRPr lang="en-US" sz="1200" dirty="0"/>
          </a:p>
        </p:txBody>
      </p:sp>
      <p:sp>
        <p:nvSpPr>
          <p:cNvPr id="42" name="Text 40"/>
          <p:cNvSpPr/>
          <p:nvPr/>
        </p:nvSpPr>
        <p:spPr>
          <a:xfrm>
            <a:off x="4617720" y="4169664"/>
            <a:ext cx="3931920" cy="256032"/>
          </a:xfrm>
          <a:prstGeom prst="rect">
            <a:avLst/>
          </a:prstGeom>
          <a:noFill/>
          <a:ln/>
        </p:spPr>
        <p:txBody>
          <a:bodyPr wrap="square" lIns="0" tIns="0" rIns="0" bIns="0" rtlCol="0" anchor="ctr"/>
          <a:lstStyle/>
          <a:p>
            <a:pPr algn="l" indent="0" marL="0">
              <a:buNone/>
            </a:pPr>
            <a:r>
              <a:rPr lang="en-US" sz="1200" dirty="0">
                <a:solidFill>
                  <a:srgbClr val="888888"/>
                </a:solidFill>
                <a:latin typeface="Calibri" pitchFamily="34" charset="0"/>
                <a:ea typeface="Calibri" pitchFamily="34" charset="-122"/>
                <a:cs typeface="Calibri" pitchFamily="34" charset="-120"/>
              </a:rPr>
              <a:t>4.  Measure it. Improve it. Don't assume it.</a:t>
            </a:r>
            <a:endParaRPr lang="en-US" sz="1200" dirty="0"/>
          </a:p>
        </p:txBody>
      </p:sp>
      <p:sp>
        <p:nvSpPr>
          <p:cNvPr id="43" name="Text 41"/>
          <p:cNvSpPr/>
          <p:nvPr/>
        </p:nvSpPr>
        <p:spPr>
          <a:xfrm>
            <a:off x="502920" y="4754880"/>
            <a:ext cx="8138160" cy="256032"/>
          </a:xfrm>
          <a:prstGeom prst="rect">
            <a:avLst/>
          </a:prstGeom>
          <a:noFill/>
          <a:ln/>
        </p:spPr>
        <p:txBody>
          <a:bodyPr wrap="square" lIns="0" tIns="0" rIns="0" bIns="0" rtlCol="0" anchor="ctr"/>
          <a:lstStyle/>
          <a:p>
            <a:pPr algn="ctr" indent="0" marL="0">
              <a:buNone/>
            </a:pPr>
            <a:r>
              <a:rPr lang="en-US" sz="1200" b="1" i="1" dirty="0">
                <a:solidFill>
                  <a:srgbClr val="666666"/>
                </a:solidFill>
                <a:latin typeface="Calibri" pitchFamily="34" charset="0"/>
                <a:ea typeface="Calibri" pitchFamily="34" charset="-122"/>
                <a:cs typeface="Calibri" pitchFamily="34" charset="-120"/>
              </a:rPr>
              <a:t>“The best AI workflow is the one your whole team actually follows.”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Don't let AI work for you. Work better with AI.</dc:title>
  <dc:subject>PptxGenJS Presentation</dc:subject>
  <dc:creator>Techversant Engineering</dc:creator>
  <cp:lastModifiedBy>Techversant Engineering</cp:lastModifiedBy>
  <cp:revision>1</cp:revision>
  <dcterms:created xsi:type="dcterms:W3CDTF">2026-04-22T07:00:53Z</dcterms:created>
  <dcterms:modified xsi:type="dcterms:W3CDTF">2026-04-22T07:00:53Z</dcterms:modified>
</cp:coreProperties>
</file>